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Lst>
  <p:sldSz cy="6858000" cx="12192000"/>
  <p:notesSz cx="6858000" cy="9144000"/>
  <p:embeddedFontLst>
    <p:embeddedFont>
      <p:font typeface="Proxima Nova"/>
      <p:regular r:id="rId89"/>
      <p:bold r:id="rId90"/>
      <p:italic r:id="rId91"/>
      <p:boldItalic r:id="rId92"/>
    </p:embeddedFont>
    <p:embeddedFont>
      <p:font typeface="Inter"/>
      <p:regular r:id="rId93"/>
      <p:bold r:id="rId94"/>
      <p:italic r:id="rId95"/>
      <p:boldItalic r:id="rId96"/>
    </p:embeddedFont>
    <p:embeddedFont>
      <p:font typeface="Quicksand"/>
      <p:regular r:id="rId97"/>
      <p:bold r:id="rId98"/>
    </p:embeddedFont>
    <p:embeddedFont>
      <p:font typeface="Open Sans"/>
      <p:regular r:id="rId99"/>
      <p:bold r:id="rId100"/>
      <p:italic r:id="rId101"/>
      <p:boldItalic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3" roundtripDataSignature="AMtx7mhEDUAp6XniUA/oRp4s9O8Phu4U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customschemas.google.com/relationships/presentationmetadata" Target="metadata"/><Relationship Id="rId102" Type="http://schemas.openxmlformats.org/officeDocument/2006/relationships/font" Target="fonts/OpenSans-boldItalic.fntdata"/><Relationship Id="rId101" Type="http://schemas.openxmlformats.org/officeDocument/2006/relationships/font" Target="fonts/OpenSans-italic.fntdata"/><Relationship Id="rId100" Type="http://schemas.openxmlformats.org/officeDocument/2006/relationships/font" Target="fonts/OpenSans-bold.fntdata"/><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95" Type="http://schemas.openxmlformats.org/officeDocument/2006/relationships/font" Target="fonts/Inter-italic.fntdata"/><Relationship Id="rId94" Type="http://schemas.openxmlformats.org/officeDocument/2006/relationships/font" Target="fonts/Inter-bold.fntdata"/><Relationship Id="rId97" Type="http://schemas.openxmlformats.org/officeDocument/2006/relationships/font" Target="fonts/Quicksand-regular.fntdata"/><Relationship Id="rId96" Type="http://schemas.openxmlformats.org/officeDocument/2006/relationships/font" Target="fonts/Inter-boldItalic.fntdata"/><Relationship Id="rId11" Type="http://schemas.openxmlformats.org/officeDocument/2006/relationships/slide" Target="slides/slide7.xml"/><Relationship Id="rId99" Type="http://schemas.openxmlformats.org/officeDocument/2006/relationships/font" Target="fonts/OpenSans-regular.fntdata"/><Relationship Id="rId10" Type="http://schemas.openxmlformats.org/officeDocument/2006/relationships/slide" Target="slides/slide6.xml"/><Relationship Id="rId98" Type="http://schemas.openxmlformats.org/officeDocument/2006/relationships/font" Target="fonts/Quicksand-bold.fntdata"/><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font" Target="fonts/ProximaNova-italic.fntdata"/><Relationship Id="rId90" Type="http://schemas.openxmlformats.org/officeDocument/2006/relationships/font" Target="fonts/ProximaNova-bold.fntdata"/><Relationship Id="rId93" Type="http://schemas.openxmlformats.org/officeDocument/2006/relationships/font" Target="fonts/Inter-regular.fntdata"/><Relationship Id="rId92" Type="http://schemas.openxmlformats.org/officeDocument/2006/relationships/font" Target="fonts/ProximaNova-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font" Target="fonts/ProximaNova-regular.fntdata"/><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72f6dd3839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72f6dd3839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2f6dd383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72f6dd3839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2f6dd383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72f6dd3839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2f6dd3839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72f6dd3839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72f6dd3839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72f6dd3839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77313f64b1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77313f64b1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77313f64b1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77313f64b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77313f64b1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g377313f64b1_0_1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77313f64b1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g377313f64b1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77313f64b1_0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g377313f64b1_0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77313f64b1_0_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g377313f64b1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7313f64b1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77313f64b1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77313f64b1_0_2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377313f64b1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77313f64b1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g377313f64b1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77313f64b1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77313f64b1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77313f64b1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77313f64b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77313f64b1_0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77313f64b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77313f64b1_0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77313f64b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77313f64b1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77313f64b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77313f64b1_0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77313f64b1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77313f64b1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77313f64b1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6" name="Google Shape;38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77313f64b1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77313f64b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77313f64b1_0_2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77313f64b1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77313f64b1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77313f64b1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77313f64b1_0_2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77313f64b1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77313f64b1_0_2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77313f64b1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77313f64b1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77313f64b1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77313f64b1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77313f64b1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77313f64b1_0_2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77313f64b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77313f64b1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77313f64b1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77313f64b1_0_2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77313f64b1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77313f64b1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77313f64b1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77313f64b1_0_2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77313f64b1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77313f64b1_0_2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77313f64b1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77313f64b1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g377313f64b1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77313f64b1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 name="Google Shape;498;g377313f64b1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77313f64b1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4" name="Google Shape;504;g377313f64b1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77313f64b1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g377313f64b1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77313f64b1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g377313f64b1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82af4c0e6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82af4c0e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77313f64b1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1" name="Google Shape;531;g377313f64b1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77313f64b1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6" name="Google Shape;536;g377313f64b1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7b59bdb6e3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g37b59bdb6e3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7b59bdb6e3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g37b59bdb6e3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7b59bdb6e3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g37b59bdb6e3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7b59bdb6e3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g37b59bdb6e3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7b59bdb6e3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g37b59bdb6e3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7b59bdb6e3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37b59bdb6e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7b59bdb6e3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g37b59bdb6e3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1" name="Google Shape;59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7" name="Google Shape;597;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4" name="Google Shape;60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6" name="Google Shape;61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2" name="Google Shape;622;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2" name="Shape 12"/>
        <p:cNvGrpSpPr/>
        <p:nvPr/>
      </p:nvGrpSpPr>
      <p:grpSpPr>
        <a:xfrm>
          <a:off x="0" y="0"/>
          <a:ext cx="0" cy="0"/>
          <a:chOff x="0" y="0"/>
          <a:chExt cx="0" cy="0"/>
        </a:xfrm>
      </p:grpSpPr>
      <p:sp>
        <p:nvSpPr>
          <p:cNvPr id="13" name="Google Shape;13;p56"/>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mbria"/>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6"/>
          <p:cNvSpPr/>
          <p:nvPr>
            <p:ph idx="2" type="pic"/>
          </p:nvPr>
        </p:nvSpPr>
        <p:spPr>
          <a:xfrm>
            <a:off x="0" y="-1"/>
            <a:ext cx="12188952" cy="4572000"/>
          </a:xfrm>
          <a:prstGeom prst="rect">
            <a:avLst/>
          </a:prstGeom>
          <a:solidFill>
            <a:srgbClr val="76CEEF"/>
          </a:solidFill>
          <a:ln>
            <a:noFill/>
          </a:ln>
        </p:spPr>
      </p:sp>
      <p:sp>
        <p:nvSpPr>
          <p:cNvPr id="15" name="Google Shape;15;p56"/>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16" name="Google Shape;16;p5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cxnSp>
        <p:nvCxnSpPr>
          <p:cNvPr id="19" name="Google Shape;19;p56"/>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4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9"/>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3" name="Google Shape;23;p4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sp>
        <p:nvSpPr>
          <p:cNvPr id="27" name="Google Shape;27;p48"/>
          <p:cNvSpPr/>
          <p:nvPr/>
        </p:nvSpPr>
        <p:spPr>
          <a:xfrm>
            <a:off x="0" y="0"/>
            <a:ext cx="12192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8"/>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8"/>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mbria"/>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8"/>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31" name="Google Shape;31;p4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cxnSp>
        <p:nvCxnSpPr>
          <p:cNvPr id="34" name="Google Shape;34;p48"/>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5" name="Shape 35"/>
        <p:cNvGrpSpPr/>
        <p:nvPr/>
      </p:nvGrpSpPr>
      <p:grpSpPr>
        <a:xfrm>
          <a:off x="0" y="0"/>
          <a:ext cx="0" cy="0"/>
          <a:chOff x="0" y="0"/>
          <a:chExt cx="0" cy="0"/>
        </a:xfrm>
      </p:grpSpPr>
      <p:sp>
        <p:nvSpPr>
          <p:cNvPr id="36" name="Google Shape;36;p50"/>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0"/>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50"/>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mbria"/>
              <a:buNone/>
              <a:defRPr b="0"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0"/>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0" name="Google Shape;40;p5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cxnSp>
        <p:nvCxnSpPr>
          <p:cNvPr id="43" name="Google Shape;43;p50"/>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1"/>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51"/>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5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5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2"/>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Cambria"/>
                <a:ea typeface="Cambria"/>
                <a:cs typeface="Cambria"/>
                <a:sym typeface="Cambria"/>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52"/>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52"/>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Cambria"/>
                <a:ea typeface="Cambria"/>
                <a:cs typeface="Cambria"/>
                <a:sym typeface="Cambria"/>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52"/>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5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5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5" name="Shape 65"/>
        <p:cNvGrpSpPr/>
        <p:nvPr/>
      </p:nvGrpSpPr>
      <p:grpSpPr>
        <a:xfrm>
          <a:off x="0" y="0"/>
          <a:ext cx="0" cy="0"/>
          <a:chOff x="0" y="0"/>
          <a:chExt cx="0" cy="0"/>
        </a:xfrm>
      </p:grpSpPr>
      <p:sp>
        <p:nvSpPr>
          <p:cNvPr id="66" name="Google Shape;66;p5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55"/>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Cambria"/>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5"/>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72" name="Google Shape;72;p55"/>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3" name="Google Shape;73;p5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5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7"/>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9" name="Google Shape;79;p5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2" name="Shape 82"/>
        <p:cNvGrpSpPr/>
        <p:nvPr/>
      </p:nvGrpSpPr>
      <p:grpSpPr>
        <a:xfrm>
          <a:off x="0" y="0"/>
          <a:ext cx="0" cy="0"/>
          <a:chOff x="0" y="0"/>
          <a:chExt cx="0" cy="0"/>
        </a:xfrm>
      </p:grpSpPr>
      <p:sp>
        <p:nvSpPr>
          <p:cNvPr id="83" name="Google Shape;83;p58"/>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8"/>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5" name="Google Shape;85;p5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5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5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cxnSp>
        <p:nvCxnSpPr>
          <p:cNvPr id="88" name="Google Shape;88;p58"/>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Cambria"/>
              <a:buNone/>
              <a:defRPr b="0" i="0" sz="5000" u="none" cap="none" strike="noStrike">
                <a:solidFill>
                  <a:srgbClr val="0C0C0C"/>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Cambria"/>
                <a:ea typeface="Cambria"/>
                <a:cs typeface="Cambria"/>
                <a:sym typeface="Cambria"/>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Cambria"/>
                <a:ea typeface="Cambria"/>
                <a:cs typeface="Cambria"/>
                <a:sym typeface="Cambria"/>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mbria"/>
                <a:ea typeface="Cambria"/>
                <a:cs typeface="Cambria"/>
                <a:sym typeface="Cambria"/>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mbria"/>
                <a:ea typeface="Cambria"/>
                <a:cs typeface="Cambria"/>
                <a:sym typeface="Cambria"/>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mbria"/>
                <a:ea typeface="Cambria"/>
                <a:cs typeface="Cambria"/>
                <a:sym typeface="Cambria"/>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mbria"/>
                <a:ea typeface="Cambria"/>
                <a:cs typeface="Cambria"/>
                <a:sym typeface="Cambria"/>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mbria"/>
                <a:ea typeface="Cambria"/>
                <a:cs typeface="Cambria"/>
                <a:sym typeface="Cambria"/>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mbria"/>
                <a:ea typeface="Cambria"/>
                <a:cs typeface="Cambria"/>
                <a:sym typeface="Cambria"/>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Cambria"/>
                <a:ea typeface="Cambria"/>
                <a:cs typeface="Cambria"/>
                <a:sym typeface="Cambria"/>
              </a:defRPr>
            </a:lvl9pPr>
          </a:lstStyle>
          <a:p/>
        </p:txBody>
      </p:sp>
      <p:sp>
        <p:nvSpPr>
          <p:cNvPr id="8" name="Google Shape;8;p4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rgbClr val="0C0C0C"/>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9pPr>
          </a:lstStyle>
          <a:p/>
        </p:txBody>
      </p:sp>
      <p:sp>
        <p:nvSpPr>
          <p:cNvPr id="9" name="Google Shape;9;p4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rgbClr val="0C0C0C"/>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mbria"/>
                <a:ea typeface="Cambria"/>
                <a:cs typeface="Cambria"/>
                <a:sym typeface="Cambria"/>
              </a:defRPr>
            </a:lvl9pPr>
          </a:lstStyle>
          <a:p/>
        </p:txBody>
      </p:sp>
      <p:sp>
        <p:nvSpPr>
          <p:cNvPr id="10" name="Google Shape;10;p4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Cambria"/>
                <a:ea typeface="Cambria"/>
                <a:cs typeface="Cambria"/>
                <a:sym typeface="Cambria"/>
              </a:defRPr>
            </a:lvl9pPr>
          </a:lstStyle>
          <a:p>
            <a:pPr indent="0" lvl="0" marL="0" rtl="0" algn="l">
              <a:spcBef>
                <a:spcPts val="0"/>
              </a:spcBef>
              <a:spcAft>
                <a:spcPts val="0"/>
              </a:spcAft>
              <a:buNone/>
            </a:pPr>
            <a:fld id="{00000000-1234-1234-1234-123412341234}" type="slidenum">
              <a:rPr lang="en-IN"/>
              <a:t>‹#›</a:t>
            </a:fld>
            <a:endParaRPr/>
          </a:p>
        </p:txBody>
      </p:sp>
      <p:cxnSp>
        <p:nvCxnSpPr>
          <p:cNvPr id="11" name="Google Shape;11;p47"/>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vmlDrawing" Target="../drawings/vmlDrawing5.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vmlDrawing" Target="../drawings/vmlDrawing6.vml"/><Relationship Id="rId4" Type="http://schemas.openxmlformats.org/officeDocument/2006/relationships/oleObject" Target="../embeddings/oleObject6.bin"/><Relationship Id="rId5" Type="http://schemas.openxmlformats.org/officeDocument/2006/relationships/oleObject" Target="../embeddings/oleObject6.bin"/><Relationship Id="rId6"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vmlDrawing" Target="../drawings/vmlDrawing7.vml"/><Relationship Id="rId4" Type="http://schemas.openxmlformats.org/officeDocument/2006/relationships/oleObject" Target="../embeddings/oleObject7.bin"/><Relationship Id="rId5" Type="http://schemas.openxmlformats.org/officeDocument/2006/relationships/oleObject" Target="../embeddings/oleObject7.bin"/><Relationship Id="rId6"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4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5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4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5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4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4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5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4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4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4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5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hyperlink" Target="https://www.tutorialandexample.com/constraint-satisfaction-problems-in-artificial-intelligence/"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2" name="Shape 92"/>
        <p:cNvGrpSpPr/>
        <p:nvPr/>
      </p:nvGrpSpPr>
      <p:grpSpPr>
        <a:xfrm>
          <a:off x="0" y="0"/>
          <a:ext cx="0" cy="0"/>
          <a:chOff x="0" y="0"/>
          <a:chExt cx="0" cy="0"/>
        </a:xfrm>
      </p:grpSpPr>
      <p:sp>
        <p:nvSpPr>
          <p:cNvPr id="93" name="Google Shape;93;p1"/>
          <p:cNvSpPr txBox="1"/>
          <p:nvPr>
            <p:ph type="title"/>
          </p:nvPr>
        </p:nvSpPr>
        <p:spPr>
          <a:xfrm>
            <a:off x="457200" y="4960138"/>
            <a:ext cx="7772400" cy="1463100"/>
          </a:xfrm>
          <a:prstGeom prst="rect">
            <a:avLst/>
          </a:prstGeom>
          <a:noFill/>
          <a:ln>
            <a:noFill/>
          </a:ln>
        </p:spPr>
        <p:txBody>
          <a:bodyPr anchorCtr="0" anchor="ctr" bIns="45700" lIns="91425" spcFirstLastPara="1" rIns="91425" wrap="square" tIns="45700">
            <a:normAutofit/>
          </a:bodyPr>
          <a:lstStyle/>
          <a:p>
            <a:pPr indent="0" lvl="0" marL="0" rtl="0" algn="r">
              <a:lnSpc>
                <a:spcPct val="80000"/>
              </a:lnSpc>
              <a:spcBef>
                <a:spcPts val="0"/>
              </a:spcBef>
              <a:spcAft>
                <a:spcPts val="0"/>
              </a:spcAft>
              <a:buClr>
                <a:srgbClr val="0C0C0C"/>
              </a:buClr>
              <a:buSzPts val="5000"/>
              <a:buFont typeface="Cambria"/>
              <a:buNone/>
            </a:pPr>
            <a:r>
              <a:rPr lang="en-IN"/>
              <a:t>MODULE-3</a:t>
            </a:r>
            <a:endParaRPr/>
          </a:p>
        </p:txBody>
      </p:sp>
      <p:sp>
        <p:nvSpPr>
          <p:cNvPr id="94" name="Google Shape;94;p1"/>
          <p:cNvSpPr txBox="1"/>
          <p:nvPr>
            <p:ph idx="1" type="body"/>
          </p:nvPr>
        </p:nvSpPr>
        <p:spPr>
          <a:xfrm>
            <a:off x="8610600" y="4960138"/>
            <a:ext cx="3200400" cy="14631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t/>
            </a:r>
            <a:endParaRPr/>
          </a:p>
        </p:txBody>
      </p:sp>
      <p:sp>
        <p:nvSpPr>
          <p:cNvPr id="95" name="Google Shape;95;p1"/>
          <p:cNvSpPr/>
          <p:nvPr>
            <p:ph idx="2" type="pic"/>
          </p:nvPr>
        </p:nvSpPr>
        <p:spPr>
          <a:xfrm>
            <a:off x="0" y="-1"/>
            <a:ext cx="12189000" cy="4572000"/>
          </a:xfrm>
          <a:prstGeom prst="rect">
            <a:avLst/>
          </a:prstGeom>
          <a:solidFill>
            <a:srgbClr val="76CEEF"/>
          </a:solid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1069848" y="0"/>
            <a:ext cx="10058400" cy="828675"/>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rPr lang="en-IN"/>
              <a:t>ADVERSARIAL SEARCH</a:t>
            </a:r>
            <a:endParaRPr/>
          </a:p>
        </p:txBody>
      </p:sp>
      <p:sp>
        <p:nvSpPr>
          <p:cNvPr id="101" name="Google Shape;101;p2"/>
          <p:cNvSpPr txBox="1"/>
          <p:nvPr>
            <p:ph idx="1" type="body"/>
          </p:nvPr>
        </p:nvSpPr>
        <p:spPr>
          <a:xfrm>
            <a:off x="1184148" y="1243013"/>
            <a:ext cx="10058400" cy="4943475"/>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lang="en-IN" sz="2400" cap="none">
                <a:latin typeface="Calibri"/>
                <a:ea typeface="Calibri"/>
                <a:cs typeface="Calibri"/>
                <a:sym typeface="Calibri"/>
              </a:rPr>
              <a:t>Competitive environments, in which the agents’ goals are in conflict, giving rise to </a:t>
            </a:r>
            <a:r>
              <a:rPr b="1" i="1" lang="en-IN" sz="2400" cap="none">
                <a:latin typeface="Calibri"/>
                <a:ea typeface="Calibri"/>
                <a:cs typeface="Calibri"/>
                <a:sym typeface="Calibri"/>
              </a:rPr>
              <a:t>adversarial search </a:t>
            </a:r>
            <a:r>
              <a:rPr lang="en-IN" sz="2400" cap="none">
                <a:latin typeface="Calibri"/>
                <a:ea typeface="Calibri"/>
                <a:cs typeface="Calibri"/>
                <a:sym typeface="Calibri"/>
              </a:rPr>
              <a:t>problems—often known as</a:t>
            </a:r>
            <a:r>
              <a:rPr b="1" i="1" lang="en-IN" sz="2400" cap="none">
                <a:latin typeface="Calibri"/>
                <a:ea typeface="Calibri"/>
                <a:cs typeface="Calibri"/>
                <a:sym typeface="Calibri"/>
              </a:rPr>
              <a:t> games</a:t>
            </a:r>
            <a:r>
              <a:rPr lang="en-IN" sz="2400" cap="none">
                <a:latin typeface="Calibri"/>
                <a:ea typeface="Calibri"/>
                <a:cs typeface="Calibri"/>
                <a:sym typeface="Calibri"/>
              </a:rPr>
              <a:t>.</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Games, unlike most of the toy problems are interesting because they are too hard to solve.</a:t>
            </a:r>
            <a:endParaRPr/>
          </a:p>
          <a:p>
            <a:pPr indent="-91440" lvl="0" marL="91440" rtl="0" algn="l">
              <a:lnSpc>
                <a:spcPct val="90000"/>
              </a:lnSpc>
              <a:spcBef>
                <a:spcPts val="1400"/>
              </a:spcBef>
              <a:spcAft>
                <a:spcPts val="0"/>
              </a:spcAft>
              <a:buSzPts val="2400"/>
              <a:buChar char=" "/>
            </a:pPr>
            <a:r>
              <a:rPr b="1" i="1" lang="en-IN" sz="2400" cap="none">
                <a:latin typeface="Calibri"/>
                <a:ea typeface="Calibri"/>
                <a:cs typeface="Calibri"/>
                <a:sym typeface="Calibri"/>
              </a:rPr>
              <a:t>Pruning </a:t>
            </a:r>
            <a:r>
              <a:rPr lang="en-IN" sz="2400" cap="none">
                <a:latin typeface="Calibri"/>
                <a:ea typeface="Calibri"/>
                <a:cs typeface="Calibri"/>
                <a:sym typeface="Calibri"/>
              </a:rPr>
              <a:t>allows us to ignore portions of the search tree that make no difference to the final choice, and </a:t>
            </a:r>
            <a:r>
              <a:rPr b="1" i="1" lang="en-IN" sz="2400" cap="none">
                <a:latin typeface="Calibri"/>
                <a:ea typeface="Calibri"/>
                <a:cs typeface="Calibri"/>
                <a:sym typeface="Calibri"/>
              </a:rPr>
              <a:t>heuristic evaluation functions </a:t>
            </a:r>
            <a:r>
              <a:rPr lang="en-IN" sz="2400" cap="none">
                <a:latin typeface="Calibri"/>
                <a:ea typeface="Calibri"/>
                <a:cs typeface="Calibri"/>
                <a:sym typeface="Calibri"/>
              </a:rPr>
              <a:t>allow us to approximate the true utility of a state without doing a complete search.</a:t>
            </a:r>
            <a:endParaRPr/>
          </a:p>
          <a:p>
            <a:pPr indent="0" lvl="0" marL="0" rtl="0" algn="l">
              <a:lnSpc>
                <a:spcPct val="90000"/>
              </a:lnSpc>
              <a:spcBef>
                <a:spcPts val="1400"/>
              </a:spcBef>
              <a:spcAft>
                <a:spcPts val="0"/>
              </a:spcAft>
              <a:buSzPts val="2400"/>
              <a:buNone/>
            </a:pPr>
            <a:r>
              <a:rPr lang="en-IN" sz="2400" cap="none">
                <a:latin typeface="Calibri"/>
                <a:ea typeface="Calibri"/>
                <a:cs typeface="Calibri"/>
                <a:sym typeface="Calibri"/>
              </a:rPr>
              <a:t> </a:t>
            </a:r>
            <a:endParaRPr/>
          </a:p>
          <a:p>
            <a:pPr indent="0" lvl="0" marL="91440" rtl="0" algn="l">
              <a:lnSpc>
                <a:spcPct val="90000"/>
              </a:lnSpc>
              <a:spcBef>
                <a:spcPts val="1400"/>
              </a:spcBef>
              <a:spcAft>
                <a:spcPts val="0"/>
              </a:spcAft>
              <a:buSzPts val="2400"/>
              <a:buNone/>
            </a:pPr>
            <a:r>
              <a:t/>
            </a:r>
            <a:endParaRPr sz="2400" cap="none">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72f6dd3839_0_1"/>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107" name="Google Shape;107;g372f6dd3839_0_1"/>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108" name="Google Shape;108;g372f6dd3839_0_1"/>
          <p:cNvPicPr preferRelativeResize="0"/>
          <p:nvPr/>
        </p:nvPicPr>
        <p:blipFill rotWithShape="1">
          <a:blip r:embed="rId3">
            <a:alphaModFix/>
          </a:blip>
          <a:srcRect b="0" l="0" r="0" t="0"/>
          <a:stretch/>
        </p:blipFill>
        <p:spPr>
          <a:xfrm>
            <a:off x="2033588" y="638175"/>
            <a:ext cx="8124825" cy="5581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72f6dd3839_0_7"/>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114" name="Google Shape;114;g372f6dd3839_0_7"/>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115" name="Google Shape;115;g372f6dd3839_0_7"/>
          <p:cNvPicPr preferRelativeResize="0"/>
          <p:nvPr/>
        </p:nvPicPr>
        <p:blipFill rotWithShape="1">
          <a:blip r:embed="rId3">
            <a:alphaModFix/>
          </a:blip>
          <a:srcRect b="0" l="0" r="0" t="0"/>
          <a:stretch/>
        </p:blipFill>
        <p:spPr>
          <a:xfrm>
            <a:off x="1160024" y="638175"/>
            <a:ext cx="8998376" cy="5581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72f6dd3839_0_13"/>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121" name="Google Shape;121;g372f6dd3839_0_13"/>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122" name="Google Shape;122;g372f6dd3839_0_13"/>
          <p:cNvPicPr preferRelativeResize="0"/>
          <p:nvPr/>
        </p:nvPicPr>
        <p:blipFill rotWithShape="1">
          <a:blip r:embed="rId3">
            <a:alphaModFix/>
          </a:blip>
          <a:srcRect b="0" l="0" r="0" t="0"/>
          <a:stretch/>
        </p:blipFill>
        <p:spPr>
          <a:xfrm>
            <a:off x="720575" y="595325"/>
            <a:ext cx="10679825" cy="5667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72f6dd3839_0_19"/>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128" name="Google Shape;128;g372f6dd3839_0_19"/>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129" name="Google Shape;129;g372f6dd3839_0_19"/>
          <p:cNvPicPr preferRelativeResize="0"/>
          <p:nvPr/>
        </p:nvPicPr>
        <p:blipFill rotWithShape="1">
          <a:blip r:embed="rId3">
            <a:alphaModFix/>
          </a:blip>
          <a:srcRect b="0" l="0" r="0" t="0"/>
          <a:stretch/>
        </p:blipFill>
        <p:spPr>
          <a:xfrm>
            <a:off x="1024127" y="638175"/>
            <a:ext cx="9134299" cy="5581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
          <p:cNvSpPr txBox="1"/>
          <p:nvPr>
            <p:ph idx="1" type="body"/>
          </p:nvPr>
        </p:nvSpPr>
        <p:spPr>
          <a:xfrm>
            <a:off x="913774" y="609730"/>
            <a:ext cx="10364452" cy="3424107"/>
          </a:xfrm>
          <a:prstGeom prst="rect">
            <a:avLst/>
          </a:prstGeom>
          <a:noFill/>
          <a:ln>
            <a:noFill/>
          </a:ln>
        </p:spPr>
        <p:txBody>
          <a:bodyPr anchorCtr="0" anchor="t" bIns="45700" lIns="45700" spcFirstLastPara="1" rIns="45700" wrap="square" tIns="45700">
            <a:noAutofit/>
          </a:bodyPr>
          <a:lstStyle/>
          <a:p>
            <a:pPr indent="0" lvl="0" marL="0" rtl="0" algn="ctr">
              <a:lnSpc>
                <a:spcPct val="90000"/>
              </a:lnSpc>
              <a:spcBef>
                <a:spcPts val="0"/>
              </a:spcBef>
              <a:spcAft>
                <a:spcPts val="0"/>
              </a:spcAft>
              <a:buSzPts val="2400"/>
              <a:buNone/>
            </a:pPr>
            <a:r>
              <a:rPr b="1" lang="en-IN" sz="2400" cap="none">
                <a:latin typeface="Calibri"/>
                <a:ea typeface="Calibri"/>
                <a:cs typeface="Calibri"/>
                <a:sym typeface="Calibri"/>
              </a:rPr>
              <a:t>GAME SEARCH PROBLEM</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Problem formulation</a:t>
            </a:r>
            <a:endParaRPr/>
          </a:p>
          <a:p>
            <a:pPr indent="-152399" lvl="1" marL="265176" rtl="0" algn="l">
              <a:lnSpc>
                <a:spcPct val="90000"/>
              </a:lnSpc>
              <a:spcBef>
                <a:spcPts val="400"/>
              </a:spcBef>
              <a:spcAft>
                <a:spcPts val="0"/>
              </a:spcAft>
              <a:buSzPts val="2400"/>
              <a:buChar char="?"/>
            </a:pPr>
            <a:r>
              <a:rPr lang="en-IN" sz="2400" cap="none">
                <a:latin typeface="Calibri"/>
                <a:ea typeface="Calibri"/>
                <a:cs typeface="Calibri"/>
                <a:sym typeface="Calibri"/>
              </a:rPr>
              <a:t>Initial state: initial board position + whose move it is</a:t>
            </a:r>
            <a:endParaRPr/>
          </a:p>
          <a:p>
            <a:pPr indent="-152399" lvl="1" marL="265176" rtl="0" algn="l">
              <a:lnSpc>
                <a:spcPct val="90000"/>
              </a:lnSpc>
              <a:spcBef>
                <a:spcPts val="600"/>
              </a:spcBef>
              <a:spcAft>
                <a:spcPts val="0"/>
              </a:spcAft>
              <a:buSzPts val="2400"/>
              <a:buChar char="?"/>
            </a:pPr>
            <a:r>
              <a:rPr lang="en-IN" sz="2400" cap="none">
                <a:latin typeface="Calibri"/>
                <a:ea typeface="Calibri"/>
                <a:cs typeface="Calibri"/>
                <a:sym typeface="Calibri"/>
              </a:rPr>
              <a:t>Operators: legal moves a player can make</a:t>
            </a:r>
            <a:endParaRPr/>
          </a:p>
          <a:p>
            <a:pPr indent="-152399" lvl="1" marL="265176" rtl="0" algn="l">
              <a:lnSpc>
                <a:spcPct val="90000"/>
              </a:lnSpc>
              <a:spcBef>
                <a:spcPts val="600"/>
              </a:spcBef>
              <a:spcAft>
                <a:spcPts val="0"/>
              </a:spcAft>
              <a:buSzPts val="2400"/>
              <a:buChar char="?"/>
            </a:pPr>
            <a:r>
              <a:rPr lang="en-IN" sz="2400" cap="none">
                <a:latin typeface="Calibri"/>
                <a:ea typeface="Calibri"/>
                <a:cs typeface="Calibri"/>
                <a:sym typeface="Calibri"/>
              </a:rPr>
              <a:t>Goal (terminal test):  game over?</a:t>
            </a:r>
            <a:endParaRPr/>
          </a:p>
          <a:p>
            <a:pPr indent="-152399" lvl="1" marL="265176" rtl="0" algn="l">
              <a:lnSpc>
                <a:spcPct val="90000"/>
              </a:lnSpc>
              <a:spcBef>
                <a:spcPts val="600"/>
              </a:spcBef>
              <a:spcAft>
                <a:spcPts val="0"/>
              </a:spcAft>
              <a:buSzPts val="2400"/>
              <a:buChar char="?"/>
            </a:pPr>
            <a:r>
              <a:rPr lang="en-IN" sz="2400" cap="none">
                <a:latin typeface="Calibri"/>
                <a:ea typeface="Calibri"/>
                <a:cs typeface="Calibri"/>
                <a:sym typeface="Calibri"/>
              </a:rPr>
              <a:t>Utility (payoff) function: measures the outcome of the game and its desirability </a:t>
            </a:r>
            <a:endParaRPr/>
          </a:p>
          <a:p>
            <a:pPr indent="-91440" lvl="0" marL="91440" rtl="0" algn="l">
              <a:lnSpc>
                <a:spcPct val="90000"/>
              </a:lnSpc>
              <a:spcBef>
                <a:spcPts val="1600"/>
              </a:spcBef>
              <a:spcAft>
                <a:spcPts val="0"/>
              </a:spcAft>
              <a:buSzPts val="2400"/>
              <a:buChar char=" "/>
            </a:pPr>
            <a:r>
              <a:rPr lang="en-IN" sz="2400" cap="none">
                <a:latin typeface="Calibri"/>
                <a:ea typeface="Calibri"/>
                <a:cs typeface="Calibri"/>
                <a:sym typeface="Calibri"/>
              </a:rPr>
              <a:t>Search objective:</a:t>
            </a:r>
            <a:endParaRPr/>
          </a:p>
          <a:p>
            <a:pPr indent="-152399" lvl="1" marL="265176" rtl="0" algn="l">
              <a:lnSpc>
                <a:spcPct val="90000"/>
              </a:lnSpc>
              <a:spcBef>
                <a:spcPts val="400"/>
              </a:spcBef>
              <a:spcAft>
                <a:spcPts val="0"/>
              </a:spcAft>
              <a:buSzPts val="2400"/>
              <a:buChar char="?"/>
            </a:pPr>
            <a:r>
              <a:rPr lang="en-IN" sz="2400" cap="none">
                <a:latin typeface="Calibri"/>
                <a:ea typeface="Calibri"/>
                <a:cs typeface="Calibri"/>
                <a:sym typeface="Calibri"/>
              </a:rPr>
              <a:t>Find the sequence of player’s decisions (moves) maximizing its utility (payoff)</a:t>
            </a:r>
            <a:endParaRPr/>
          </a:p>
          <a:p>
            <a:pPr indent="-152399" lvl="1" marL="265176" rtl="0" algn="l">
              <a:lnSpc>
                <a:spcPct val="90000"/>
              </a:lnSpc>
              <a:spcBef>
                <a:spcPts val="600"/>
              </a:spcBef>
              <a:spcAft>
                <a:spcPts val="0"/>
              </a:spcAft>
              <a:buSzPts val="2400"/>
              <a:buChar char="?"/>
            </a:pPr>
            <a:r>
              <a:rPr lang="en-IN" sz="2400" cap="none">
                <a:latin typeface="Calibri"/>
                <a:ea typeface="Calibri"/>
                <a:cs typeface="Calibri"/>
                <a:sym typeface="Calibri"/>
              </a:rPr>
              <a:t>Consider the opponent’s moves and their utility</a:t>
            </a:r>
            <a:endParaRPr/>
          </a:p>
          <a:p>
            <a:pPr indent="0" lvl="0" marL="91440" rtl="0" algn="l">
              <a:lnSpc>
                <a:spcPct val="90000"/>
              </a:lnSpc>
              <a:spcBef>
                <a:spcPts val="1600"/>
              </a:spcBef>
              <a:spcAft>
                <a:spcPts val="0"/>
              </a:spcAft>
              <a:buSzPts val="2400"/>
              <a:buNone/>
            </a:pPr>
            <a:r>
              <a:t/>
            </a:r>
            <a:endParaRPr sz="2400" cap="none">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913774" y="619508"/>
            <a:ext cx="10364451" cy="73879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rPr lang="en-IN"/>
              <a:t>GAME V/S SINGLE-AGENT SEARCH</a:t>
            </a:r>
            <a:endParaRPr/>
          </a:p>
        </p:txBody>
      </p:sp>
      <p:sp>
        <p:nvSpPr>
          <p:cNvPr id="140" name="Google Shape;140;p4"/>
          <p:cNvSpPr txBox="1"/>
          <p:nvPr/>
        </p:nvSpPr>
        <p:spPr>
          <a:xfrm>
            <a:off x="1097280" y="1528763"/>
            <a:ext cx="10058400" cy="4709729"/>
          </a:xfrm>
          <a:prstGeom prst="rect">
            <a:avLst/>
          </a:prstGeom>
          <a:noFill/>
          <a:ln>
            <a:noFill/>
          </a:ln>
        </p:spPr>
        <p:txBody>
          <a:bodyPr anchorCtr="0" anchor="t" bIns="45700" lIns="91425" spcFirstLastPara="1" rIns="91425" wrap="square" tIns="45700">
            <a:normAutofit fontScale="92500"/>
          </a:bodyPr>
          <a:lstStyle/>
          <a:p>
            <a:pPr indent="-228600" lvl="0" marL="228600" marR="0" rtl="0" algn="l">
              <a:lnSpc>
                <a:spcPct val="120000"/>
              </a:lnSpc>
              <a:spcBef>
                <a:spcPts val="0"/>
              </a:spcBef>
              <a:spcAft>
                <a:spcPts val="0"/>
              </a:spcAft>
              <a:buClr>
                <a:schemeClr val="dk1"/>
              </a:buClr>
              <a:buSzPct val="100000"/>
              <a:buFont typeface="Arial"/>
              <a:buChar char="•"/>
            </a:pPr>
            <a:r>
              <a:rPr b="0" i="0" lang="en-IN" sz="2800" u="none" cap="none" strike="noStrike">
                <a:solidFill>
                  <a:schemeClr val="dk1"/>
                </a:solidFill>
                <a:latin typeface="Calibri"/>
                <a:ea typeface="Calibri"/>
                <a:cs typeface="Calibri"/>
                <a:sym typeface="Calibri"/>
              </a:rPr>
              <a:t>We don’t know how the opponent will act</a:t>
            </a:r>
            <a:endParaRPr b="0" i="0" sz="1400" u="none" cap="none" strike="noStrike">
              <a:solidFill>
                <a:srgbClr val="000000"/>
              </a:solidFill>
              <a:latin typeface="Arial"/>
              <a:ea typeface="Arial"/>
              <a:cs typeface="Arial"/>
              <a:sym typeface="Arial"/>
            </a:endParaRPr>
          </a:p>
          <a:p>
            <a:pPr indent="-228600" lvl="1" marL="685800" marR="0" rtl="0" algn="l">
              <a:lnSpc>
                <a:spcPct val="120000"/>
              </a:lnSpc>
              <a:spcBef>
                <a:spcPts val="500"/>
              </a:spcBef>
              <a:spcAft>
                <a:spcPts val="0"/>
              </a:spcAft>
              <a:buClr>
                <a:schemeClr val="dk1"/>
              </a:buClr>
              <a:buSzPct val="100000"/>
              <a:buFont typeface="Arial"/>
              <a:buChar char="•"/>
            </a:pPr>
            <a:r>
              <a:rPr b="0" i="0" lang="en-IN" sz="2400" u="none" cap="none" strike="noStrike">
                <a:solidFill>
                  <a:schemeClr val="dk1"/>
                </a:solidFill>
                <a:latin typeface="Calibri"/>
                <a:ea typeface="Calibri"/>
                <a:cs typeface="Calibri"/>
                <a:sym typeface="Calibri"/>
              </a:rPr>
              <a:t>The solution is not a fixed sequence of actions from start state to goal state, but a strategy or policy (a mapping from state to best move in that state)</a:t>
            </a:r>
            <a:endParaRPr b="0" i="0" sz="1400" u="none" cap="none" strike="noStrike">
              <a:solidFill>
                <a:srgbClr val="000000"/>
              </a:solidFill>
              <a:latin typeface="Arial"/>
              <a:ea typeface="Arial"/>
              <a:cs typeface="Arial"/>
              <a:sym typeface="Arial"/>
            </a:endParaRPr>
          </a:p>
          <a:p>
            <a:pPr indent="-228600" lvl="0" marL="228600" marR="0" rtl="0" algn="l">
              <a:lnSpc>
                <a:spcPct val="120000"/>
              </a:lnSpc>
              <a:spcBef>
                <a:spcPts val="1000"/>
              </a:spcBef>
              <a:spcAft>
                <a:spcPts val="0"/>
              </a:spcAft>
              <a:buClr>
                <a:schemeClr val="dk1"/>
              </a:buClr>
              <a:buSzPct val="100000"/>
              <a:buFont typeface="Arial"/>
              <a:buChar char="•"/>
            </a:pPr>
            <a:r>
              <a:rPr b="0" i="0" lang="en-IN" sz="2800" u="none" cap="none" strike="noStrike">
                <a:solidFill>
                  <a:schemeClr val="dk1"/>
                </a:solidFill>
                <a:latin typeface="Calibri"/>
                <a:ea typeface="Calibri"/>
                <a:cs typeface="Calibri"/>
                <a:sym typeface="Calibri"/>
              </a:rPr>
              <a:t>Efficiency is critical to playing well</a:t>
            </a:r>
            <a:endParaRPr b="0" i="0" sz="1400" u="none" cap="none" strike="noStrike">
              <a:solidFill>
                <a:srgbClr val="000000"/>
              </a:solidFill>
              <a:latin typeface="Arial"/>
              <a:ea typeface="Arial"/>
              <a:cs typeface="Arial"/>
              <a:sym typeface="Arial"/>
            </a:endParaRPr>
          </a:p>
          <a:p>
            <a:pPr indent="-228600" lvl="1" marL="685800" marR="0" rtl="0" algn="l">
              <a:lnSpc>
                <a:spcPct val="120000"/>
              </a:lnSpc>
              <a:spcBef>
                <a:spcPts val="500"/>
              </a:spcBef>
              <a:spcAft>
                <a:spcPts val="0"/>
              </a:spcAft>
              <a:buClr>
                <a:schemeClr val="dk1"/>
              </a:buClr>
              <a:buSzPct val="100000"/>
              <a:buFont typeface="Arial"/>
              <a:buChar char="•"/>
            </a:pPr>
            <a:r>
              <a:rPr b="0" i="0" lang="en-IN" sz="2400" u="none" cap="none" strike="noStrike">
                <a:solidFill>
                  <a:schemeClr val="dk1"/>
                </a:solidFill>
                <a:latin typeface="Calibri"/>
                <a:ea typeface="Calibri"/>
                <a:cs typeface="Calibri"/>
                <a:sym typeface="Calibri"/>
              </a:rPr>
              <a:t>The time to make a move is limited</a:t>
            </a:r>
            <a:endParaRPr b="0" i="0" sz="1400" u="none" cap="none" strike="noStrike">
              <a:solidFill>
                <a:srgbClr val="000000"/>
              </a:solidFill>
              <a:latin typeface="Arial"/>
              <a:ea typeface="Arial"/>
              <a:cs typeface="Arial"/>
              <a:sym typeface="Arial"/>
            </a:endParaRPr>
          </a:p>
          <a:p>
            <a:pPr indent="-228600" lvl="1" marL="685800" marR="0" rtl="0" algn="l">
              <a:lnSpc>
                <a:spcPct val="120000"/>
              </a:lnSpc>
              <a:spcBef>
                <a:spcPts val="500"/>
              </a:spcBef>
              <a:spcAft>
                <a:spcPts val="0"/>
              </a:spcAft>
              <a:buClr>
                <a:schemeClr val="dk1"/>
              </a:buClr>
              <a:buSzPct val="100000"/>
              <a:buFont typeface="Arial"/>
              <a:buChar char="•"/>
            </a:pPr>
            <a:r>
              <a:rPr b="0" i="0" lang="en-IN" sz="2400" u="none" cap="none" strike="noStrike">
                <a:solidFill>
                  <a:schemeClr val="dk1"/>
                </a:solidFill>
                <a:latin typeface="Calibri"/>
                <a:ea typeface="Calibri"/>
                <a:cs typeface="Calibri"/>
                <a:sym typeface="Calibri"/>
              </a:rPr>
              <a:t>The branching factor, search depth, and number of terminal configurations are huge</a:t>
            </a:r>
            <a:endParaRPr b="0" i="0" sz="1400" u="none" cap="none" strike="noStrike">
              <a:solidFill>
                <a:srgbClr val="000000"/>
              </a:solidFill>
              <a:latin typeface="Arial"/>
              <a:ea typeface="Arial"/>
              <a:cs typeface="Arial"/>
              <a:sym typeface="Arial"/>
            </a:endParaRPr>
          </a:p>
          <a:p>
            <a:pPr indent="-228600" lvl="2" marL="1143000" marR="0" rtl="0" algn="l">
              <a:lnSpc>
                <a:spcPct val="120000"/>
              </a:lnSpc>
              <a:spcBef>
                <a:spcPts val="500"/>
              </a:spcBef>
              <a:spcAft>
                <a:spcPts val="0"/>
              </a:spcAft>
              <a:buClr>
                <a:schemeClr val="dk1"/>
              </a:buClr>
              <a:buSzPct val="100000"/>
              <a:buFont typeface="Arial"/>
              <a:buChar char="•"/>
            </a:pPr>
            <a:r>
              <a:rPr b="0" i="0" lang="en-IN" sz="1800" u="none" cap="none" strike="noStrike">
                <a:solidFill>
                  <a:schemeClr val="dk1"/>
                </a:solidFill>
                <a:latin typeface="Calibri"/>
                <a:ea typeface="Calibri"/>
                <a:cs typeface="Calibri"/>
                <a:sym typeface="Calibri"/>
              </a:rPr>
              <a:t>In chess, branching factor ≈ 35 and depth ≈ 100, giving a search tree of nodes</a:t>
            </a:r>
            <a:endParaRPr b="0" i="0" sz="1400" u="none" cap="none" strike="noStrike">
              <a:solidFill>
                <a:srgbClr val="000000"/>
              </a:solidFill>
              <a:latin typeface="Arial"/>
              <a:ea typeface="Arial"/>
              <a:cs typeface="Arial"/>
              <a:sym typeface="Arial"/>
            </a:endParaRPr>
          </a:p>
          <a:p>
            <a:pPr indent="-228600" lvl="3" marL="1600200" marR="0" rtl="0" algn="l">
              <a:lnSpc>
                <a:spcPct val="120000"/>
              </a:lnSpc>
              <a:spcBef>
                <a:spcPts val="500"/>
              </a:spcBef>
              <a:spcAft>
                <a:spcPts val="0"/>
              </a:spcAft>
              <a:buClr>
                <a:schemeClr val="dk1"/>
              </a:buClr>
              <a:buSzPct val="100000"/>
              <a:buFont typeface="Arial"/>
              <a:buChar char="•"/>
            </a:pPr>
            <a:r>
              <a:rPr b="0" i="0" lang="en-IN" sz="1800" u="none" cap="none" strike="noStrike">
                <a:solidFill>
                  <a:schemeClr val="dk1"/>
                </a:solidFill>
                <a:latin typeface="Calibri"/>
                <a:ea typeface="Calibri"/>
                <a:cs typeface="Calibri"/>
                <a:sym typeface="Calibri"/>
              </a:rPr>
              <a:t>Number of atoms in the observable universe ≈ 1080</a:t>
            </a:r>
            <a:endParaRPr b="0" i="0" sz="1400" u="none" cap="none" strike="noStrike">
              <a:solidFill>
                <a:srgbClr val="000000"/>
              </a:solidFill>
              <a:latin typeface="Arial"/>
              <a:ea typeface="Arial"/>
              <a:cs typeface="Arial"/>
              <a:sym typeface="Arial"/>
            </a:endParaRPr>
          </a:p>
          <a:p>
            <a:pPr indent="-228600" lvl="2" marL="1143000" marR="0" rtl="0" algn="l">
              <a:lnSpc>
                <a:spcPct val="120000"/>
              </a:lnSpc>
              <a:spcBef>
                <a:spcPts val="500"/>
              </a:spcBef>
              <a:spcAft>
                <a:spcPts val="0"/>
              </a:spcAft>
              <a:buClr>
                <a:schemeClr val="dk1"/>
              </a:buClr>
              <a:buSzPct val="100000"/>
              <a:buFont typeface="Arial"/>
              <a:buChar char="•"/>
            </a:pPr>
            <a:r>
              <a:rPr b="0" i="0" lang="en-IN" sz="1800" u="none" cap="none" strike="noStrike">
                <a:solidFill>
                  <a:schemeClr val="dk1"/>
                </a:solidFill>
                <a:latin typeface="Calibri"/>
                <a:ea typeface="Calibri"/>
                <a:cs typeface="Calibri"/>
                <a:sym typeface="Calibri"/>
              </a:rPr>
              <a:t>This rules out searching all the way to the end of the game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idx="1" type="body"/>
          </p:nvPr>
        </p:nvSpPr>
        <p:spPr>
          <a:xfrm>
            <a:off x="400051" y="646331"/>
            <a:ext cx="11472862" cy="6211669"/>
          </a:xfrm>
          <a:prstGeom prst="rect">
            <a:avLst/>
          </a:prstGeom>
          <a:noFill/>
          <a:ln>
            <a:noFill/>
          </a:ln>
        </p:spPr>
        <p:txBody>
          <a:bodyPr anchorCtr="0" anchor="t" bIns="45700" lIns="45700" spcFirstLastPara="1" rIns="45700" wrap="square" tIns="45700">
            <a:normAutofit lnSpcReduction="10000"/>
          </a:bodyPr>
          <a:lstStyle/>
          <a:p>
            <a:pPr indent="-91440" lvl="0" marL="91440" rtl="0" algn="l">
              <a:lnSpc>
                <a:spcPct val="90000"/>
              </a:lnSpc>
              <a:spcBef>
                <a:spcPts val="0"/>
              </a:spcBef>
              <a:spcAft>
                <a:spcPts val="0"/>
              </a:spcAft>
              <a:buSzPts val="2800"/>
              <a:buChar char=" "/>
            </a:pPr>
            <a:r>
              <a:rPr lang="en-IN" sz="2800" cap="none">
                <a:latin typeface="Calibri"/>
                <a:ea typeface="Calibri"/>
                <a:cs typeface="Calibri"/>
                <a:sym typeface="Calibri"/>
              </a:rPr>
              <a:t>We first consider games with two players, max and min</a:t>
            </a:r>
            <a:endParaRPr/>
          </a:p>
          <a:p>
            <a:pPr indent="-91440" lvl="0" marL="91440" rtl="0" algn="l">
              <a:lnSpc>
                <a:spcPct val="90000"/>
              </a:lnSpc>
              <a:spcBef>
                <a:spcPts val="1400"/>
              </a:spcBef>
              <a:spcAft>
                <a:spcPts val="0"/>
              </a:spcAft>
              <a:buSzPts val="2800"/>
              <a:buChar char=" "/>
            </a:pPr>
            <a:r>
              <a:rPr lang="en-IN" sz="2800" cap="none">
                <a:latin typeface="Calibri"/>
                <a:ea typeface="Calibri"/>
                <a:cs typeface="Calibri"/>
                <a:sym typeface="Calibri"/>
              </a:rPr>
              <a:t>MAX moves first, and then they take turns moving until the game is over. </a:t>
            </a:r>
            <a:endParaRPr/>
          </a:p>
          <a:p>
            <a:pPr indent="-91440" lvl="0" marL="91440" rtl="0" algn="l">
              <a:lnSpc>
                <a:spcPct val="90000"/>
              </a:lnSpc>
              <a:spcBef>
                <a:spcPts val="1400"/>
              </a:spcBef>
              <a:spcAft>
                <a:spcPts val="0"/>
              </a:spcAft>
              <a:buSzPts val="2800"/>
              <a:buChar char=" "/>
            </a:pPr>
            <a:r>
              <a:rPr lang="en-IN" sz="2800" cap="none">
                <a:latin typeface="Calibri"/>
                <a:ea typeface="Calibri"/>
                <a:cs typeface="Calibri"/>
                <a:sym typeface="Calibri"/>
              </a:rPr>
              <a:t>At the end of the game, points are awarded to the winning player and penalties are given to the loser.</a:t>
            </a:r>
            <a:endParaRPr/>
          </a:p>
          <a:p>
            <a:pPr indent="-91440" lvl="0" marL="91440" rtl="0" algn="l">
              <a:lnSpc>
                <a:spcPct val="90000"/>
              </a:lnSpc>
              <a:spcBef>
                <a:spcPts val="1400"/>
              </a:spcBef>
              <a:spcAft>
                <a:spcPts val="0"/>
              </a:spcAft>
              <a:buSzPts val="2800"/>
              <a:buChar char=" "/>
            </a:pPr>
            <a:r>
              <a:rPr lang="en-IN" sz="2800" cap="none">
                <a:latin typeface="Calibri"/>
                <a:ea typeface="Calibri"/>
                <a:cs typeface="Calibri"/>
                <a:sym typeface="Calibri"/>
              </a:rPr>
              <a:t> A game can be formally defined as a kind of search problem with the following elements:</a:t>
            </a:r>
            <a:endParaRPr/>
          </a:p>
          <a:p>
            <a:pPr indent="-152399" lvl="1" marL="265176" rtl="0" algn="l">
              <a:lnSpc>
                <a:spcPct val="90000"/>
              </a:lnSpc>
              <a:spcBef>
                <a:spcPts val="400"/>
              </a:spcBef>
              <a:spcAft>
                <a:spcPts val="0"/>
              </a:spcAft>
              <a:buSzPts val="2400"/>
              <a:buChar char="?"/>
            </a:pPr>
            <a:r>
              <a:rPr lang="en-IN" sz="2400" cap="none">
                <a:latin typeface="Calibri"/>
                <a:ea typeface="Calibri"/>
                <a:cs typeface="Calibri"/>
                <a:sym typeface="Calibri"/>
              </a:rPr>
              <a:t>S0: the initial state, which specifies how the game is set up at the start. </a:t>
            </a:r>
            <a:endParaRPr/>
          </a:p>
          <a:p>
            <a:pPr indent="-152399" lvl="1" marL="265176" rtl="0" algn="l">
              <a:lnSpc>
                <a:spcPct val="90000"/>
              </a:lnSpc>
              <a:spcBef>
                <a:spcPts val="600"/>
              </a:spcBef>
              <a:spcAft>
                <a:spcPts val="0"/>
              </a:spcAft>
              <a:buSzPts val="2400"/>
              <a:buChar char="?"/>
            </a:pPr>
            <a:r>
              <a:rPr lang="en-IN" sz="2400" cap="none">
                <a:latin typeface="Calibri"/>
                <a:ea typeface="Calibri"/>
                <a:cs typeface="Calibri"/>
                <a:sym typeface="Calibri"/>
              </a:rPr>
              <a:t>Player(s): defines which player has the move in a state. </a:t>
            </a:r>
            <a:endParaRPr/>
          </a:p>
          <a:p>
            <a:pPr indent="-152399" lvl="1" marL="265176" rtl="0" algn="l">
              <a:lnSpc>
                <a:spcPct val="90000"/>
              </a:lnSpc>
              <a:spcBef>
                <a:spcPts val="600"/>
              </a:spcBef>
              <a:spcAft>
                <a:spcPts val="0"/>
              </a:spcAft>
              <a:buSzPts val="2400"/>
              <a:buChar char="?"/>
            </a:pPr>
            <a:r>
              <a:rPr lang="en-IN" sz="2400" cap="none">
                <a:latin typeface="Calibri"/>
                <a:ea typeface="Calibri"/>
                <a:cs typeface="Calibri"/>
                <a:sym typeface="Calibri"/>
              </a:rPr>
              <a:t>Actions(s): returns the set of legal moves in a state. </a:t>
            </a:r>
            <a:endParaRPr/>
          </a:p>
          <a:p>
            <a:pPr indent="-152399" lvl="1" marL="265176" rtl="0" algn="l">
              <a:lnSpc>
                <a:spcPct val="90000"/>
              </a:lnSpc>
              <a:spcBef>
                <a:spcPts val="600"/>
              </a:spcBef>
              <a:spcAft>
                <a:spcPts val="0"/>
              </a:spcAft>
              <a:buSzPts val="2400"/>
              <a:buChar char="?"/>
            </a:pPr>
            <a:r>
              <a:rPr lang="en-IN" sz="2400" cap="none">
                <a:latin typeface="Calibri"/>
                <a:ea typeface="Calibri"/>
                <a:cs typeface="Calibri"/>
                <a:sym typeface="Calibri"/>
              </a:rPr>
              <a:t> Result(s, a): the transition model, which defines the result of a move. </a:t>
            </a:r>
            <a:endParaRPr/>
          </a:p>
          <a:p>
            <a:pPr indent="-152399" lvl="1" marL="265176" rtl="0" algn="l">
              <a:lnSpc>
                <a:spcPct val="90000"/>
              </a:lnSpc>
              <a:spcBef>
                <a:spcPts val="600"/>
              </a:spcBef>
              <a:spcAft>
                <a:spcPts val="0"/>
              </a:spcAft>
              <a:buSzPts val="2400"/>
              <a:buChar char="?"/>
            </a:pPr>
            <a:r>
              <a:rPr lang="en-IN" sz="2400" cap="none">
                <a:latin typeface="Calibri"/>
                <a:ea typeface="Calibri"/>
                <a:cs typeface="Calibri"/>
                <a:sym typeface="Calibri"/>
              </a:rPr>
              <a:t> terminal-test(s): A terminal test, which is true when the game is over and false otherwise. States where the games have ended are called terminal states</a:t>
            </a:r>
            <a:endParaRPr/>
          </a:p>
          <a:p>
            <a:pPr indent="-152399" lvl="1" marL="265176" rtl="0" algn="l">
              <a:lnSpc>
                <a:spcPct val="90000"/>
              </a:lnSpc>
              <a:spcBef>
                <a:spcPts val="600"/>
              </a:spcBef>
              <a:spcAft>
                <a:spcPts val="0"/>
              </a:spcAft>
              <a:buSzPts val="2400"/>
              <a:buChar char="?"/>
            </a:pPr>
            <a:r>
              <a:rPr lang="en-IN" sz="2400"/>
              <a:t> </a:t>
            </a:r>
            <a:r>
              <a:rPr lang="en-IN" sz="2400" cap="none">
                <a:latin typeface="Calibri"/>
                <a:ea typeface="Calibri"/>
                <a:cs typeface="Calibri"/>
                <a:sym typeface="Calibri"/>
              </a:rPr>
              <a:t>Utility(s, p): A utility function (also called an objective function or payoff function), defines the final numeric value for a game that ends in terminal state s for a player p.(In chess, the outcome is win, lose or a draw</a:t>
            </a:r>
            <a:endParaRPr/>
          </a:p>
        </p:txBody>
      </p:sp>
      <p:sp>
        <p:nvSpPr>
          <p:cNvPr id="146" name="Google Shape;146;p5"/>
          <p:cNvSpPr txBox="1"/>
          <p:nvPr/>
        </p:nvSpPr>
        <p:spPr>
          <a:xfrm>
            <a:off x="2230918" y="0"/>
            <a:ext cx="773016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IN" sz="3600" u="none" cap="none" strike="noStrike">
                <a:solidFill>
                  <a:schemeClr val="dk1"/>
                </a:solidFill>
                <a:latin typeface="Cambria"/>
                <a:ea typeface="Cambria"/>
                <a:cs typeface="Cambria"/>
                <a:sym typeface="Cambria"/>
              </a:rPr>
              <a:t>MIN MAX PROBLEM</a:t>
            </a:r>
            <a:endParaRPr b="0" i="0" sz="3600" u="none" cap="none" strike="noStrike">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idx="1" type="body"/>
          </p:nvPr>
        </p:nvSpPr>
        <p:spPr>
          <a:xfrm>
            <a:off x="357188" y="242889"/>
            <a:ext cx="11272837" cy="5548312"/>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lang="en-IN" sz="2400" cap="none">
                <a:latin typeface="Calibri"/>
                <a:ea typeface="Calibri"/>
                <a:cs typeface="Calibri"/>
                <a:sym typeface="Calibri"/>
              </a:rPr>
              <a:t>The initial state, ACTIONS function, and RESULT function define the </a:t>
            </a:r>
            <a:r>
              <a:rPr b="1" lang="en-IN" sz="2400" cap="none">
                <a:latin typeface="Calibri"/>
                <a:ea typeface="Calibri"/>
                <a:cs typeface="Calibri"/>
                <a:sym typeface="Calibri"/>
              </a:rPr>
              <a:t>game tree </a:t>
            </a:r>
            <a:r>
              <a:rPr lang="en-IN" sz="2400" cap="none">
                <a:latin typeface="Calibri"/>
                <a:ea typeface="Calibri"/>
                <a:cs typeface="Calibri"/>
                <a:sym typeface="Calibri"/>
              </a:rPr>
              <a:t>for the game—a tree where the nodes are game states and the edges are moves.</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From the initial state, MAX has nine possible moves. </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Play alternates between </a:t>
            </a:r>
            <a:r>
              <a:rPr b="1" i="1" lang="en-IN" sz="2400" cap="none">
                <a:latin typeface="Calibri"/>
                <a:ea typeface="Calibri"/>
                <a:cs typeface="Calibri"/>
                <a:sym typeface="Calibri"/>
              </a:rPr>
              <a:t>max’s placing an X </a:t>
            </a:r>
            <a:r>
              <a:rPr lang="en-IN" sz="2400" cap="none">
                <a:latin typeface="Calibri"/>
                <a:ea typeface="Calibri"/>
                <a:cs typeface="Calibri"/>
                <a:sym typeface="Calibri"/>
              </a:rPr>
              <a:t>and </a:t>
            </a:r>
            <a:r>
              <a:rPr b="1" i="1" lang="en-IN" sz="2400" cap="none">
                <a:latin typeface="Calibri"/>
                <a:ea typeface="Calibri"/>
                <a:cs typeface="Calibri"/>
                <a:sym typeface="Calibri"/>
              </a:rPr>
              <a:t>min’s placing an O </a:t>
            </a:r>
            <a:r>
              <a:rPr lang="en-IN" sz="2400" cap="none">
                <a:latin typeface="Calibri"/>
                <a:ea typeface="Calibri"/>
                <a:cs typeface="Calibri"/>
                <a:sym typeface="Calibri"/>
              </a:rPr>
              <a:t>until we reach leaf nodes corresponding to terminal states such that </a:t>
            </a:r>
            <a:r>
              <a:rPr b="1" lang="en-IN" sz="2400" cap="none">
                <a:latin typeface="Calibri"/>
                <a:ea typeface="Calibri"/>
                <a:cs typeface="Calibri"/>
                <a:sym typeface="Calibri"/>
              </a:rPr>
              <a:t>one player has three in a row or all the squares are filled.</a:t>
            </a:r>
            <a:endParaRPr b="1" sz="2800" cap="none">
              <a:latin typeface="Calibri"/>
              <a:ea typeface="Calibri"/>
              <a:cs typeface="Calibri"/>
              <a:sym typeface="Calibri"/>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The number on each leaf node indicates the </a:t>
            </a:r>
            <a:r>
              <a:rPr b="1" i="1" lang="en-IN" sz="2400" cap="none">
                <a:latin typeface="Calibri"/>
                <a:ea typeface="Calibri"/>
                <a:cs typeface="Calibri"/>
                <a:sym typeface="Calibri"/>
              </a:rPr>
              <a:t>utility value </a:t>
            </a:r>
            <a:r>
              <a:rPr lang="en-IN" sz="2400" cap="none">
                <a:latin typeface="Calibri"/>
                <a:ea typeface="Calibri"/>
                <a:cs typeface="Calibri"/>
                <a:sym typeface="Calibri"/>
              </a:rPr>
              <a:t>of the terminal state from the point of view of max; high values are assumed to be good for max and bad for min (which is how the players get their names)</a:t>
            </a:r>
            <a:endParaRPr sz="2800" cap="none">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72f6dd3839_0_25"/>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157" name="Google Shape;157;g372f6dd3839_0_25"/>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158" name="Google Shape;158;g372f6dd3839_0_25"/>
          <p:cNvPicPr preferRelativeResize="0"/>
          <p:nvPr/>
        </p:nvPicPr>
        <p:blipFill rotWithShape="1">
          <a:blip r:embed="rId3">
            <a:alphaModFix/>
          </a:blip>
          <a:srcRect b="0" l="0" r="0" t="0"/>
          <a:stretch/>
        </p:blipFill>
        <p:spPr>
          <a:xfrm>
            <a:off x="840425" y="638175"/>
            <a:ext cx="9317999" cy="5581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graphicFrame>
        <p:nvGraphicFramePr>
          <p:cNvPr id="163" name="Google Shape;163;p7"/>
          <p:cNvGraphicFramePr/>
          <p:nvPr/>
        </p:nvGraphicFramePr>
        <p:xfrm>
          <a:off x="942976" y="314325"/>
          <a:ext cx="9858374" cy="6257925"/>
        </p:xfrm>
        <a:graphic>
          <a:graphicData uri="http://schemas.openxmlformats.org/presentationml/2006/ole">
            <mc:AlternateContent>
              <mc:Choice Requires="v">
                <p:oleObj r:id="rId4" imgH="6257925" imgW="9858374" progId="PBrush" spid="_x0000_s1">
                  <p:embed/>
                </p:oleObj>
              </mc:Choice>
              <mc:Fallback>
                <p:oleObj r:id="rId5" imgH="6257925" imgW="9858374" progId="PBrush">
                  <p:embed/>
                  <p:pic>
                    <p:nvPicPr>
                      <p:cNvPr id="163" name="Google Shape;163;p7"/>
                      <p:cNvPicPr preferRelativeResize="0"/>
                      <p:nvPr/>
                    </p:nvPicPr>
                    <p:blipFill rotWithShape="1">
                      <a:blip r:embed="rId6">
                        <a:alphaModFix/>
                      </a:blip>
                      <a:srcRect b="0" l="0" r="0" t="0"/>
                      <a:stretch/>
                    </p:blipFill>
                    <p:spPr>
                      <a:xfrm>
                        <a:off x="942976" y="314325"/>
                        <a:ext cx="9858374" cy="6257925"/>
                      </a:xfrm>
                      <a:prstGeom prst="rect">
                        <a:avLst/>
                      </a:prstGeom>
                      <a:noFill/>
                      <a:ln>
                        <a:noFill/>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t/>
            </a:r>
            <a:endParaRPr/>
          </a:p>
        </p:txBody>
      </p:sp>
      <p:sp>
        <p:nvSpPr>
          <p:cNvPr id="169" name="Google Shape;169;p8"/>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3600"/>
              <a:buChar char=" "/>
            </a:pPr>
            <a:r>
              <a:rPr b="1" i="1" lang="en-IN" sz="3600" cap="none">
                <a:solidFill>
                  <a:srgbClr val="000000"/>
                </a:solidFill>
                <a:latin typeface="Calibri"/>
                <a:ea typeface="Calibri"/>
                <a:cs typeface="Calibri"/>
                <a:sym typeface="Calibri"/>
              </a:rPr>
              <a:t>Search tree </a:t>
            </a:r>
            <a:r>
              <a:rPr i="1" lang="en-IN" sz="3600" cap="none">
                <a:solidFill>
                  <a:srgbClr val="000000"/>
                </a:solidFill>
                <a:latin typeface="Calibri"/>
                <a:ea typeface="Calibri"/>
                <a:cs typeface="Calibri"/>
                <a:sym typeface="Calibri"/>
              </a:rPr>
              <a:t>is a tree that is superimposed on the full game tree, and examines enough nodes to allow a player to determine what move to make.</a:t>
            </a:r>
            <a:endParaRPr i="1" sz="4000" cap="none">
              <a:latin typeface="Calibri"/>
              <a:ea typeface="Calibri"/>
              <a:cs typeface="Calibri"/>
              <a:sym typeface="Calibri"/>
            </a:endParaRPr>
          </a:p>
          <a:p>
            <a:pPr indent="0" lvl="0" marL="91440" rtl="0" algn="l">
              <a:lnSpc>
                <a:spcPct val="90000"/>
              </a:lnSpc>
              <a:spcBef>
                <a:spcPts val="1400"/>
              </a:spcBef>
              <a:spcAft>
                <a:spcPts val="0"/>
              </a:spcAft>
              <a:buSzPts val="3600"/>
              <a:buNone/>
            </a:pPr>
            <a:r>
              <a:t/>
            </a:r>
            <a:endParaRPr sz="3600" cap="none">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9"/>
          <p:cNvSpPr txBox="1"/>
          <p:nvPr>
            <p:ph type="title"/>
          </p:nvPr>
        </p:nvSpPr>
        <p:spPr>
          <a:xfrm>
            <a:off x="913774" y="104168"/>
            <a:ext cx="10364451" cy="79594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rPr lang="en-IN"/>
              <a:t>OPTIMAL SOLUTIONS IN GAMES</a:t>
            </a:r>
            <a:endParaRPr/>
          </a:p>
        </p:txBody>
      </p:sp>
      <p:sp>
        <p:nvSpPr>
          <p:cNvPr id="175" name="Google Shape;175;p9"/>
          <p:cNvSpPr txBox="1"/>
          <p:nvPr>
            <p:ph idx="1" type="body"/>
          </p:nvPr>
        </p:nvSpPr>
        <p:spPr>
          <a:xfrm>
            <a:off x="913775" y="900115"/>
            <a:ext cx="10364452" cy="4891086"/>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lang="en-IN" sz="2400" cap="none">
                <a:latin typeface="Calibri"/>
                <a:ea typeface="Calibri"/>
                <a:cs typeface="Calibri"/>
                <a:sym typeface="Calibri"/>
              </a:rPr>
              <a:t>In a normal search problem, the optimal solution would be a sequence of actions leading to a goal state—a terminal state that is a win</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In adversarial search, MIN has something to say STRATEGY about it.</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 MAX therefore must find a contingent strategy, which specifies max’s move in the initial state, then max’s moves in the states resulting from every possible response by MIN, then max’s moves in the states resulting from every possible response by MIN to those moves, and so 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idx="1" type="body"/>
          </p:nvPr>
        </p:nvSpPr>
        <p:spPr>
          <a:xfrm>
            <a:off x="913774" y="4824543"/>
            <a:ext cx="10364452" cy="3424107"/>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Char char=" "/>
            </a:pPr>
            <a:r>
              <a:rPr lang="en-IN" cap="none">
                <a:latin typeface="Calibri"/>
                <a:ea typeface="Calibri"/>
                <a:cs typeface="Calibri"/>
                <a:sym typeface="Calibri"/>
              </a:rPr>
              <a:t>The possible moves for MAX at the root node are labelled a1, a2, and a3. The possible replies to a1 for MIN are b1, b2, b3, and so on. This particular game ends after one move each by MAX and MIN. </a:t>
            </a:r>
            <a:endParaRPr/>
          </a:p>
          <a:p>
            <a:pPr indent="-91440" lvl="0" marL="91440" rtl="0" algn="l">
              <a:lnSpc>
                <a:spcPct val="90000"/>
              </a:lnSpc>
              <a:spcBef>
                <a:spcPts val="1400"/>
              </a:spcBef>
              <a:spcAft>
                <a:spcPts val="0"/>
              </a:spcAft>
              <a:buSzPts val="2200"/>
              <a:buChar char=" "/>
            </a:pPr>
            <a:r>
              <a:rPr lang="en-IN" cap="none">
                <a:latin typeface="Calibri"/>
                <a:ea typeface="Calibri"/>
                <a:cs typeface="Calibri"/>
                <a:sym typeface="Calibri"/>
              </a:rPr>
              <a:t>It is called the two-ply game.(consisting of two half moves)</a:t>
            </a:r>
            <a:endParaRPr/>
          </a:p>
        </p:txBody>
      </p:sp>
      <p:pic>
        <p:nvPicPr>
          <p:cNvPr id="181" name="Google Shape;181;p10"/>
          <p:cNvPicPr preferRelativeResize="0"/>
          <p:nvPr/>
        </p:nvPicPr>
        <p:blipFill rotWithShape="1">
          <a:blip r:embed="rId3">
            <a:alphaModFix/>
          </a:blip>
          <a:srcRect b="0" l="0" r="0" t="0"/>
          <a:stretch/>
        </p:blipFill>
        <p:spPr>
          <a:xfrm>
            <a:off x="1629379" y="600075"/>
            <a:ext cx="8047417" cy="40008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913774" y="0"/>
            <a:ext cx="10364451" cy="885825"/>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rPr lang="en-IN"/>
              <a:t>MINIMAX VALUE</a:t>
            </a:r>
            <a:endParaRPr/>
          </a:p>
        </p:txBody>
      </p:sp>
      <p:sp>
        <p:nvSpPr>
          <p:cNvPr id="187" name="Google Shape;187;p11"/>
          <p:cNvSpPr txBox="1"/>
          <p:nvPr>
            <p:ph idx="1" type="body"/>
          </p:nvPr>
        </p:nvSpPr>
        <p:spPr>
          <a:xfrm>
            <a:off x="913774" y="542925"/>
            <a:ext cx="10364452" cy="3819525"/>
          </a:xfrm>
          <a:prstGeom prst="rect">
            <a:avLst/>
          </a:prstGeom>
          <a:noFill/>
          <a:ln>
            <a:noFill/>
          </a:ln>
        </p:spPr>
        <p:txBody>
          <a:bodyPr anchorCtr="0" anchor="t" bIns="45700" lIns="45700" spcFirstLastPara="1" rIns="45700" wrap="square" tIns="45700">
            <a:noAutofit/>
          </a:bodyPr>
          <a:lstStyle/>
          <a:p>
            <a:pPr indent="0" lvl="0" marL="0" rtl="0" algn="l">
              <a:lnSpc>
                <a:spcPct val="90000"/>
              </a:lnSpc>
              <a:spcBef>
                <a:spcPts val="0"/>
              </a:spcBef>
              <a:spcAft>
                <a:spcPts val="0"/>
              </a:spcAft>
              <a:buSzPts val="2400"/>
              <a:buNone/>
            </a:pPr>
            <a:r>
              <a:t/>
            </a:r>
            <a:endParaRPr sz="2400" cap="none">
              <a:latin typeface="Calibri"/>
              <a:ea typeface="Calibri"/>
              <a:cs typeface="Calibri"/>
              <a:sym typeface="Calibri"/>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Given a game tree, the optimal strategy can be determined from the minimax value of each node, which we write as </a:t>
            </a:r>
            <a:r>
              <a:rPr b="1" i="1" lang="en-IN" sz="2400" cap="none">
                <a:latin typeface="Calibri"/>
                <a:ea typeface="Calibri"/>
                <a:cs typeface="Calibri"/>
                <a:sym typeface="Calibri"/>
              </a:rPr>
              <a:t>minimax(n).</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The minimax value of a node is of being useful in the corresponding state, </a:t>
            </a:r>
            <a:r>
              <a:rPr i="1" lang="en-IN" sz="2400" cap="none">
                <a:latin typeface="Calibri"/>
                <a:ea typeface="Calibri"/>
                <a:cs typeface="Calibri"/>
                <a:sym typeface="Calibri"/>
              </a:rPr>
              <a:t>assuming that both players play optimally </a:t>
            </a:r>
            <a:r>
              <a:rPr lang="en-IN" sz="2400" cap="none">
                <a:latin typeface="Calibri"/>
                <a:ea typeface="Calibri"/>
                <a:cs typeface="Calibri"/>
                <a:sym typeface="Calibri"/>
              </a:rPr>
              <a:t>from there to the end of the game. </a:t>
            </a:r>
            <a:endParaRPr/>
          </a:p>
          <a:p>
            <a:pPr indent="0" lvl="0" marL="0" rtl="0" algn="l">
              <a:lnSpc>
                <a:spcPct val="90000"/>
              </a:lnSpc>
              <a:spcBef>
                <a:spcPts val="1400"/>
              </a:spcBef>
              <a:spcAft>
                <a:spcPts val="0"/>
              </a:spcAft>
              <a:buSzPts val="2400"/>
              <a:buNone/>
            </a:pPr>
            <a:r>
              <a:rPr lang="en-IN" sz="2400" cap="none">
                <a:latin typeface="Calibri"/>
                <a:ea typeface="Calibri"/>
                <a:cs typeface="Calibri"/>
                <a:sym typeface="Calibri"/>
              </a:rPr>
              <a:t> The minimax value of a terminal state is just its utility(</a:t>
            </a:r>
            <a:r>
              <a:rPr b="0" i="0" lang="en-IN" sz="2400" cap="none">
                <a:latin typeface="Calibri"/>
                <a:ea typeface="Calibri"/>
                <a:cs typeface="Calibri"/>
                <a:sym typeface="Calibri"/>
              </a:rPr>
              <a:t>the state of being useful)</a:t>
            </a:r>
            <a:r>
              <a:rPr lang="en-IN" sz="2400" cap="none">
                <a:latin typeface="Calibri"/>
                <a:ea typeface="Calibri"/>
                <a:cs typeface="Calibri"/>
                <a:sym typeface="Calibri"/>
              </a:rPr>
              <a:t>. </a:t>
            </a:r>
            <a:endParaRPr/>
          </a:p>
          <a:p>
            <a:pPr indent="0" lvl="0" marL="0" rtl="0" algn="ctr">
              <a:lnSpc>
                <a:spcPct val="90000"/>
              </a:lnSpc>
              <a:spcBef>
                <a:spcPts val="1400"/>
              </a:spcBef>
              <a:spcAft>
                <a:spcPts val="0"/>
              </a:spcAft>
              <a:buSzPts val="2400"/>
              <a:buNone/>
            </a:pPr>
            <a:r>
              <a:rPr b="1" lang="en-IN" sz="2400" cap="none">
                <a:solidFill>
                  <a:srgbClr val="FF0000"/>
                </a:solidFill>
                <a:latin typeface="Calibri"/>
                <a:ea typeface="Calibri"/>
                <a:cs typeface="Calibri"/>
                <a:sym typeface="Calibri"/>
              </a:rPr>
              <a:t>Max prefers to move to a state of maximum value, whereas min prefers a state of minimum value.</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The terminal nodes on the bottom level get their utility values from the game’s utility function </a:t>
            </a:r>
            <a:endParaRPr/>
          </a:p>
          <a:p>
            <a:pPr indent="-91440" lvl="0" marL="91440" rtl="0" algn="l">
              <a:lnSpc>
                <a:spcPct val="90000"/>
              </a:lnSpc>
              <a:spcBef>
                <a:spcPts val="1400"/>
              </a:spcBef>
              <a:spcAft>
                <a:spcPts val="0"/>
              </a:spcAft>
              <a:buSzPts val="2400"/>
              <a:buChar char=" "/>
            </a:pPr>
            <a:r>
              <a:rPr b="1" lang="en-IN" sz="2400" cap="none">
                <a:latin typeface="Calibri"/>
                <a:ea typeface="Calibri"/>
                <a:cs typeface="Calibri"/>
                <a:sym typeface="Calibri"/>
              </a:rPr>
              <a:t>Minimax decision: </a:t>
            </a:r>
            <a:r>
              <a:rPr lang="en-IN" sz="2400" cap="none">
                <a:latin typeface="Calibri"/>
                <a:ea typeface="Calibri"/>
                <a:cs typeface="Calibri"/>
                <a:sym typeface="Calibri"/>
              </a:rPr>
              <a:t>optimal choice for max at root that leads to the state with the highest minimax value</a:t>
            </a:r>
            <a:endParaRPr/>
          </a:p>
          <a:p>
            <a:pPr indent="0" lvl="0" marL="0" rtl="0" algn="just">
              <a:lnSpc>
                <a:spcPct val="90000"/>
              </a:lnSpc>
              <a:spcBef>
                <a:spcPts val="1400"/>
              </a:spcBef>
              <a:spcAft>
                <a:spcPts val="0"/>
              </a:spcAft>
              <a:buSzPts val="2400"/>
              <a:buNone/>
            </a:pPr>
            <a:r>
              <a:t/>
            </a:r>
            <a:endParaRPr sz="2400" cap="none">
              <a:latin typeface="Calibri"/>
              <a:ea typeface="Calibri"/>
              <a:cs typeface="Calibri"/>
              <a:sym typeface="Calibri"/>
            </a:endParaRPr>
          </a:p>
          <a:p>
            <a:pPr indent="0" lvl="0" marL="91440" rtl="0" algn="l">
              <a:lnSpc>
                <a:spcPct val="90000"/>
              </a:lnSpc>
              <a:spcBef>
                <a:spcPts val="1400"/>
              </a:spcBef>
              <a:spcAft>
                <a:spcPts val="0"/>
              </a:spcAft>
              <a:buSzPts val="2400"/>
              <a:buNone/>
            </a:pPr>
            <a:r>
              <a:t/>
            </a:r>
            <a:endParaRPr sz="2400" cap="none">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t/>
            </a:r>
            <a:endParaRPr/>
          </a:p>
        </p:txBody>
      </p:sp>
      <p:pic>
        <p:nvPicPr>
          <p:cNvPr id="193" name="Google Shape;193;p12"/>
          <p:cNvPicPr preferRelativeResize="0"/>
          <p:nvPr/>
        </p:nvPicPr>
        <p:blipFill rotWithShape="1">
          <a:blip r:embed="rId3">
            <a:alphaModFix/>
          </a:blip>
          <a:srcRect b="0" l="0" r="0" t="0"/>
          <a:stretch/>
        </p:blipFill>
        <p:spPr>
          <a:xfrm>
            <a:off x="1110783" y="2636245"/>
            <a:ext cx="8301772" cy="158551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txBox="1"/>
          <p:nvPr/>
        </p:nvSpPr>
        <p:spPr>
          <a:xfrm>
            <a:off x="147637" y="1078421"/>
            <a:ext cx="12044363" cy="563231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400"/>
              <a:buFont typeface="Arial"/>
              <a:buChar char="•"/>
            </a:pPr>
            <a:r>
              <a:rPr b="0" i="0" lang="en-IN" sz="2400" u="none" cap="none" strike="noStrike">
                <a:solidFill>
                  <a:srgbClr val="000000"/>
                </a:solidFill>
                <a:latin typeface="Proxima Nova"/>
                <a:ea typeface="Proxima Nova"/>
                <a:cs typeface="Proxima Nova"/>
                <a:sym typeface="Proxima Nova"/>
              </a:rPr>
              <a:t>In the </a:t>
            </a:r>
            <a:r>
              <a:rPr b="1" i="0" lang="en-IN" sz="2400" u="none" cap="none" strike="noStrike">
                <a:solidFill>
                  <a:srgbClr val="000000"/>
                </a:solidFill>
                <a:latin typeface="Proxima Nova"/>
                <a:ea typeface="Proxima Nova"/>
                <a:cs typeface="Proxima Nova"/>
                <a:sym typeface="Proxima Nova"/>
              </a:rPr>
              <a:t>min max algorithm in AI, </a:t>
            </a:r>
            <a:r>
              <a:rPr b="0" i="0" lang="en-IN" sz="2400" u="none" cap="none" strike="noStrike">
                <a:solidFill>
                  <a:srgbClr val="000000"/>
                </a:solidFill>
                <a:latin typeface="Proxima Nova"/>
                <a:ea typeface="Proxima Nova"/>
                <a:cs typeface="Proxima Nova"/>
                <a:sym typeface="Proxima Nova"/>
              </a:rPr>
              <a:t>there are two players, Maximiser and Minimiser.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a:p>
            <a:pPr indent="-285750" lvl="0" marL="285750" marR="0" rtl="0" algn="l">
              <a:lnSpc>
                <a:spcPct val="100000"/>
              </a:lnSpc>
              <a:spcBef>
                <a:spcPts val="0"/>
              </a:spcBef>
              <a:spcAft>
                <a:spcPts val="0"/>
              </a:spcAft>
              <a:buClr>
                <a:srgbClr val="000000"/>
              </a:buClr>
              <a:buSzPts val="2400"/>
              <a:buFont typeface="Arial"/>
              <a:buChar char="•"/>
            </a:pPr>
            <a:r>
              <a:rPr b="0" i="0" lang="en-IN" sz="2400" u="none" cap="none" strike="noStrike">
                <a:solidFill>
                  <a:srgbClr val="000000"/>
                </a:solidFill>
                <a:latin typeface="Proxima Nova"/>
                <a:ea typeface="Proxima Nova"/>
                <a:cs typeface="Proxima Nova"/>
                <a:sym typeface="Proxima Nova"/>
              </a:rPr>
              <a:t> Both these players play the game as one tries to get the highest score possible or the maximum benefit while the opponent tries to get the lowest score or the minimum benefit.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a:p>
            <a:pPr indent="-285750" lvl="0" marL="285750" marR="0" rtl="0" algn="l">
              <a:lnSpc>
                <a:spcPct val="100000"/>
              </a:lnSpc>
              <a:spcBef>
                <a:spcPts val="0"/>
              </a:spcBef>
              <a:spcAft>
                <a:spcPts val="0"/>
              </a:spcAft>
              <a:buClr>
                <a:srgbClr val="000000"/>
              </a:buClr>
              <a:buSzPts val="2400"/>
              <a:buFont typeface="Arial"/>
              <a:buChar char="•"/>
            </a:pPr>
            <a:r>
              <a:rPr b="0" i="0" lang="en-IN" sz="2400" u="none" cap="none" strike="noStrike">
                <a:solidFill>
                  <a:srgbClr val="000000"/>
                </a:solidFill>
                <a:latin typeface="Proxima Nova"/>
                <a:ea typeface="Proxima Nova"/>
                <a:cs typeface="Proxima Nova"/>
                <a:sym typeface="Proxima Nova"/>
              </a:rPr>
              <a:t>Every game board has an evaluation score assigned to it, so the Maximiser will select the maximised value, and the Minimiser will select the minimised value with counter moves.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0" lang="en-IN" sz="2400" u="none" cap="none" strike="noStrike">
                <a:solidFill>
                  <a:srgbClr val="000000"/>
                </a:solidFill>
                <a:latin typeface="Proxima Nova"/>
                <a:ea typeface="Proxima Nova"/>
                <a:cs typeface="Proxima Nova"/>
                <a:sym typeface="Proxima Nova"/>
              </a:rPr>
              <a:t> If the Maximiser has the upper hand, then the board score will be a positive value, and if the Minimiser has the upper hand, then the board score will be a negative value.</a:t>
            </a:r>
            <a:endParaRPr b="0" i="0" sz="1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a:p>
            <a:pPr indent="-285750" lvl="0" marL="285750" marR="0" rtl="0" algn="l">
              <a:lnSpc>
                <a:spcPct val="100000"/>
              </a:lnSpc>
              <a:spcBef>
                <a:spcPts val="0"/>
              </a:spcBef>
              <a:spcAft>
                <a:spcPts val="0"/>
              </a:spcAft>
              <a:buClr>
                <a:srgbClr val="000000"/>
              </a:buClr>
              <a:buSzPts val="2400"/>
              <a:buFont typeface="Arial"/>
              <a:buChar char="•"/>
            </a:pPr>
            <a:r>
              <a:rPr b="0" i="0" lang="en-IN" sz="2400" u="none" cap="none" strike="noStrike">
                <a:solidFill>
                  <a:srgbClr val="000000"/>
                </a:solidFill>
                <a:latin typeface="Proxima Nova"/>
                <a:ea typeface="Proxima Nova"/>
                <a:cs typeface="Proxima Nova"/>
                <a:sym typeface="Proxima Nova"/>
              </a:rPr>
              <a:t>This is based on the zero-sum game concept where the total utility score gets divided between the two players. </a:t>
            </a:r>
            <a:endParaRPr b="0" i="0" sz="1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a:p>
            <a:pPr indent="-285750" lvl="0" marL="285750" marR="0" rtl="0" algn="l">
              <a:lnSpc>
                <a:spcPct val="100000"/>
              </a:lnSpc>
              <a:spcBef>
                <a:spcPts val="0"/>
              </a:spcBef>
              <a:spcAft>
                <a:spcPts val="0"/>
              </a:spcAft>
              <a:buClr>
                <a:srgbClr val="000000"/>
              </a:buClr>
              <a:buSzPts val="2400"/>
              <a:buFont typeface="Arial"/>
              <a:buChar char="•"/>
            </a:pPr>
            <a:r>
              <a:rPr b="0" i="0" lang="en-IN" sz="2400" u="none" cap="none" strike="noStrike">
                <a:solidFill>
                  <a:srgbClr val="000000"/>
                </a:solidFill>
                <a:latin typeface="Proxima Nova"/>
                <a:ea typeface="Proxima Nova"/>
                <a:cs typeface="Proxima Nova"/>
                <a:sym typeface="Proxima Nova"/>
              </a:rPr>
              <a:t>Thus, an increase in one player’s score leads to a decrease in the opponent player’s score, making the total score always zero. So, for one player to win, the other has to lose.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txBox="1"/>
          <p:nvPr>
            <p:ph idx="1" type="body"/>
          </p:nvPr>
        </p:nvSpPr>
        <p:spPr>
          <a:xfrm>
            <a:off x="913774" y="766893"/>
            <a:ext cx="10364452" cy="4576632"/>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b="0" i="0" lang="en-IN" sz="2400" cap="none">
                <a:solidFill>
                  <a:srgbClr val="000000"/>
                </a:solidFill>
                <a:latin typeface="Calibri"/>
                <a:ea typeface="Calibri"/>
                <a:cs typeface="Calibri"/>
                <a:sym typeface="Calibri"/>
              </a:rPr>
              <a:t>The minimax algorithm performs a </a:t>
            </a:r>
            <a:r>
              <a:rPr b="1" i="1" lang="en-IN" sz="2400" cap="none">
                <a:solidFill>
                  <a:srgbClr val="000000"/>
                </a:solidFill>
                <a:latin typeface="Calibri"/>
                <a:ea typeface="Calibri"/>
                <a:cs typeface="Calibri"/>
                <a:sym typeface="Calibri"/>
              </a:rPr>
              <a:t>depth-first search </a:t>
            </a:r>
            <a:r>
              <a:rPr b="0" i="0" lang="en-IN" sz="2400" cap="none">
                <a:solidFill>
                  <a:srgbClr val="000000"/>
                </a:solidFill>
                <a:latin typeface="Calibri"/>
                <a:ea typeface="Calibri"/>
                <a:cs typeface="Calibri"/>
                <a:sym typeface="Calibri"/>
              </a:rPr>
              <a:t>algorithm for the exploration of the complete game tree.</a:t>
            </a:r>
            <a:endParaRPr/>
          </a:p>
          <a:p>
            <a:pPr indent="-91440" lvl="0" marL="91440" rtl="0" algn="l">
              <a:lnSpc>
                <a:spcPct val="90000"/>
              </a:lnSpc>
              <a:spcBef>
                <a:spcPts val="1400"/>
              </a:spcBef>
              <a:spcAft>
                <a:spcPts val="0"/>
              </a:spcAft>
              <a:buSzPts val="2400"/>
              <a:buChar char=" "/>
            </a:pPr>
            <a:r>
              <a:rPr b="0" i="0" lang="en-IN" sz="2400" cap="none">
                <a:solidFill>
                  <a:srgbClr val="000000"/>
                </a:solidFill>
                <a:latin typeface="Calibri"/>
                <a:ea typeface="Calibri"/>
                <a:cs typeface="Calibri"/>
                <a:sym typeface="Calibri"/>
              </a:rPr>
              <a:t>The minimax algorithm proceeds all the way down to the terminal node of the tree, then backtrack the tree as the recursion.</a:t>
            </a:r>
            <a:endParaRPr/>
          </a:p>
          <a:p>
            <a:pPr indent="-137159" lvl="1" marL="265176" rtl="0" algn="l">
              <a:lnSpc>
                <a:spcPct val="90000"/>
              </a:lnSpc>
              <a:spcBef>
                <a:spcPts val="400"/>
              </a:spcBef>
              <a:spcAft>
                <a:spcPts val="0"/>
              </a:spcAft>
              <a:buSzPts val="2000"/>
              <a:buChar char="?"/>
            </a:pPr>
            <a:r>
              <a:rPr b="0" i="0" lang="en-IN" sz="2000" cap="none">
                <a:latin typeface="Quicksand"/>
                <a:ea typeface="Quicksand"/>
                <a:cs typeface="Quicksand"/>
                <a:sym typeface="Quicksand"/>
              </a:rPr>
              <a:t>Keep on generating the game tree/ search tree till a limit </a:t>
            </a:r>
            <a:r>
              <a:rPr b="1" i="0" lang="en-IN" sz="2000" cap="none">
                <a:latin typeface="Quicksand"/>
                <a:ea typeface="Quicksand"/>
                <a:cs typeface="Quicksand"/>
                <a:sym typeface="Quicksand"/>
              </a:rPr>
              <a:t>d.</a:t>
            </a:r>
            <a:endParaRPr b="0" i="0" sz="2000" cap="none">
              <a:latin typeface="Quicksand"/>
              <a:ea typeface="Quicksand"/>
              <a:cs typeface="Quicksand"/>
              <a:sym typeface="Quicksand"/>
            </a:endParaRPr>
          </a:p>
          <a:p>
            <a:pPr indent="-137159" lvl="1" marL="265176" rtl="0" algn="l">
              <a:lnSpc>
                <a:spcPct val="90000"/>
              </a:lnSpc>
              <a:spcBef>
                <a:spcPts val="600"/>
              </a:spcBef>
              <a:spcAft>
                <a:spcPts val="0"/>
              </a:spcAft>
              <a:buSzPts val="2000"/>
              <a:buChar char="?"/>
            </a:pPr>
            <a:r>
              <a:rPr b="0" i="0" lang="en-IN" sz="2000" cap="none">
                <a:latin typeface="Quicksand"/>
                <a:ea typeface="Quicksand"/>
                <a:cs typeface="Quicksand"/>
                <a:sym typeface="Quicksand"/>
              </a:rPr>
              <a:t>Compute the move using a heuristic function.</a:t>
            </a:r>
            <a:endParaRPr/>
          </a:p>
          <a:p>
            <a:pPr indent="-137159" lvl="1" marL="265176" rtl="0" algn="l">
              <a:lnSpc>
                <a:spcPct val="90000"/>
              </a:lnSpc>
              <a:spcBef>
                <a:spcPts val="600"/>
              </a:spcBef>
              <a:spcAft>
                <a:spcPts val="0"/>
              </a:spcAft>
              <a:buSzPts val="2000"/>
              <a:buChar char="?"/>
            </a:pPr>
            <a:r>
              <a:rPr b="0" i="0" lang="en-IN" sz="2000" cap="none">
                <a:latin typeface="Quicksand"/>
                <a:ea typeface="Quicksand"/>
                <a:cs typeface="Quicksand"/>
                <a:sym typeface="Quicksand"/>
              </a:rPr>
              <a:t>Propagate the values from the leaf node till the current position following the minimax strategy.</a:t>
            </a:r>
            <a:endParaRPr/>
          </a:p>
          <a:p>
            <a:pPr indent="-137159" lvl="1" marL="265176" rtl="0" algn="l">
              <a:lnSpc>
                <a:spcPct val="90000"/>
              </a:lnSpc>
              <a:spcBef>
                <a:spcPts val="600"/>
              </a:spcBef>
              <a:spcAft>
                <a:spcPts val="0"/>
              </a:spcAft>
              <a:buSzPts val="2000"/>
              <a:buChar char="?"/>
            </a:pPr>
            <a:r>
              <a:rPr b="0" i="0" lang="en-IN" sz="2000" cap="none">
                <a:latin typeface="Quicksand"/>
                <a:ea typeface="Quicksand"/>
                <a:cs typeface="Quicksand"/>
                <a:sym typeface="Quicksand"/>
              </a:rPr>
              <a:t>Make the best move from the choices.</a:t>
            </a:r>
            <a:endParaRPr/>
          </a:p>
          <a:p>
            <a:pPr indent="0" lvl="0" marL="91440" rtl="0" algn="l">
              <a:lnSpc>
                <a:spcPct val="90000"/>
              </a:lnSpc>
              <a:spcBef>
                <a:spcPts val="1600"/>
              </a:spcBef>
              <a:spcAft>
                <a:spcPts val="0"/>
              </a:spcAft>
              <a:buSzPts val="2400"/>
              <a:buNone/>
            </a:pPr>
            <a:r>
              <a:t/>
            </a:r>
            <a:endParaRPr b="0" i="0" sz="2400" cap="none">
              <a:solidFill>
                <a:srgbClr val="000000"/>
              </a:solidFill>
              <a:latin typeface="Calibri"/>
              <a:ea typeface="Calibri"/>
              <a:cs typeface="Calibri"/>
              <a:sym typeface="Calibri"/>
            </a:endParaRPr>
          </a:p>
          <a:p>
            <a:pPr indent="0" lvl="0" marL="91440" rtl="0" algn="l">
              <a:lnSpc>
                <a:spcPct val="90000"/>
              </a:lnSpc>
              <a:spcBef>
                <a:spcPts val="1400"/>
              </a:spcBef>
              <a:spcAft>
                <a:spcPts val="0"/>
              </a:spcAft>
              <a:buSzPts val="2400"/>
              <a:buNone/>
            </a:pPr>
            <a:r>
              <a:t/>
            </a:r>
            <a:endParaRPr b="0" i="0" sz="2400" cap="none">
              <a:solidFill>
                <a:srgbClr val="000000"/>
              </a:solidFill>
              <a:latin typeface="Calibri"/>
              <a:ea typeface="Calibri"/>
              <a:cs typeface="Calibri"/>
              <a:sym typeface="Calibri"/>
            </a:endParaRPr>
          </a:p>
          <a:p>
            <a:pPr indent="0" lvl="0" marL="91440" rtl="0" algn="l">
              <a:lnSpc>
                <a:spcPct val="90000"/>
              </a:lnSpc>
              <a:spcBef>
                <a:spcPts val="1400"/>
              </a:spcBef>
              <a:spcAft>
                <a:spcPts val="0"/>
              </a:spcAft>
              <a:buSzPts val="2400"/>
              <a:buNone/>
            </a:pPr>
            <a:r>
              <a:t/>
            </a:r>
            <a:endParaRPr sz="2400" cap="none">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graphicFrame>
        <p:nvGraphicFramePr>
          <p:cNvPr id="208" name="Google Shape;208;p15"/>
          <p:cNvGraphicFramePr/>
          <p:nvPr/>
        </p:nvGraphicFramePr>
        <p:xfrm>
          <a:off x="1414463" y="257176"/>
          <a:ext cx="9986962" cy="6100762"/>
        </p:xfrm>
        <a:graphic>
          <a:graphicData uri="http://schemas.openxmlformats.org/presentationml/2006/ole">
            <mc:AlternateContent>
              <mc:Choice Requires="v">
                <p:oleObj r:id="rId4" imgH="6100762" imgW="9986962" progId="PBrush" spid="_x0000_s1">
                  <p:embed/>
                </p:oleObj>
              </mc:Choice>
              <mc:Fallback>
                <p:oleObj r:id="rId5" imgH="6100762" imgW="9986962" progId="PBrush">
                  <p:embed/>
                  <p:pic>
                    <p:nvPicPr>
                      <p:cNvPr id="208" name="Google Shape;208;p15"/>
                      <p:cNvPicPr preferRelativeResize="0"/>
                      <p:nvPr/>
                    </p:nvPicPr>
                    <p:blipFill rotWithShape="1">
                      <a:blip r:embed="rId6">
                        <a:alphaModFix/>
                      </a:blip>
                      <a:srcRect b="0" l="0" r="0" t="0"/>
                      <a:stretch/>
                    </p:blipFill>
                    <p:spPr>
                      <a:xfrm>
                        <a:off x="1414463" y="257176"/>
                        <a:ext cx="9986962" cy="6100762"/>
                      </a:xfrm>
                      <a:prstGeom prst="rect">
                        <a:avLst/>
                      </a:prstGeom>
                      <a:noFill/>
                      <a:ln>
                        <a:noFill/>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6"/>
          <p:cNvSpPr txBox="1"/>
          <p:nvPr/>
        </p:nvSpPr>
        <p:spPr>
          <a:xfrm>
            <a:off x="452437" y="757238"/>
            <a:ext cx="11287125" cy="3970318"/>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800"/>
              <a:buFont typeface="Arial"/>
              <a:buChar char="•"/>
            </a:pPr>
            <a:r>
              <a:rPr b="0" i="0" lang="en-IN" sz="2800" u="none" cap="none" strike="noStrike">
                <a:solidFill>
                  <a:schemeClr val="dk1"/>
                </a:solidFill>
                <a:latin typeface="Quicksand"/>
                <a:ea typeface="Quicksand"/>
                <a:cs typeface="Quicksand"/>
                <a:sym typeface="Quicksand"/>
              </a:rPr>
              <a:t>For example, in the above figure, the two players </a:t>
            </a:r>
            <a:r>
              <a:rPr b="1" i="0" lang="en-IN" sz="2800" u="none" cap="none" strike="noStrike">
                <a:solidFill>
                  <a:schemeClr val="dk1"/>
                </a:solidFill>
                <a:latin typeface="Quicksand"/>
                <a:ea typeface="Quicksand"/>
                <a:cs typeface="Quicksand"/>
                <a:sym typeface="Quicksand"/>
              </a:rPr>
              <a:t>MAX</a:t>
            </a:r>
            <a:r>
              <a:rPr b="0" i="0" lang="en-IN" sz="2800" u="none" cap="none" strike="noStrike">
                <a:solidFill>
                  <a:schemeClr val="dk1"/>
                </a:solidFill>
                <a:latin typeface="Quicksand"/>
                <a:ea typeface="Quicksand"/>
                <a:cs typeface="Quicksand"/>
                <a:sym typeface="Quicksand"/>
              </a:rPr>
              <a:t> and </a:t>
            </a:r>
            <a:r>
              <a:rPr b="1" i="0" lang="en-IN" sz="2800" u="none" cap="none" strike="noStrike">
                <a:solidFill>
                  <a:schemeClr val="dk1"/>
                </a:solidFill>
                <a:latin typeface="Quicksand"/>
                <a:ea typeface="Quicksand"/>
                <a:cs typeface="Quicksand"/>
                <a:sym typeface="Quicksand"/>
              </a:rPr>
              <a:t>MIN</a:t>
            </a:r>
            <a:r>
              <a:rPr b="0" i="0" lang="en-IN" sz="2800" u="none" cap="none" strike="noStrike">
                <a:solidFill>
                  <a:schemeClr val="dk1"/>
                </a:solidFill>
                <a:latin typeface="Quicksand"/>
                <a:ea typeface="Quicksand"/>
                <a:cs typeface="Quicksand"/>
                <a:sym typeface="Quicksand"/>
              </a:rPr>
              <a:t> are there.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IN" sz="2800" u="none" cap="none" strike="noStrike">
                <a:solidFill>
                  <a:schemeClr val="dk1"/>
                </a:solidFill>
                <a:latin typeface="Quicksand"/>
                <a:ea typeface="Quicksand"/>
                <a:cs typeface="Quicksand"/>
                <a:sym typeface="Quicksand"/>
              </a:rPr>
              <a:t> </a:t>
            </a:r>
            <a:r>
              <a:rPr b="1" i="0" lang="en-IN" sz="2800" u="none" cap="none" strike="noStrike">
                <a:solidFill>
                  <a:schemeClr val="dk1"/>
                </a:solidFill>
                <a:latin typeface="Quicksand"/>
                <a:ea typeface="Quicksand"/>
                <a:cs typeface="Quicksand"/>
                <a:sym typeface="Quicksand"/>
              </a:rPr>
              <a:t>MAX </a:t>
            </a:r>
            <a:r>
              <a:rPr b="0" i="0" lang="en-IN" sz="2800" u="none" cap="none" strike="noStrike">
                <a:solidFill>
                  <a:schemeClr val="dk1"/>
                </a:solidFill>
                <a:latin typeface="Quicksand"/>
                <a:ea typeface="Quicksand"/>
                <a:cs typeface="Quicksand"/>
                <a:sym typeface="Quicksand"/>
              </a:rPr>
              <a:t>starts the game by choosing one path and propagating all the nodes of that path.</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IN" sz="2800" u="none" cap="none" strike="noStrike">
                <a:solidFill>
                  <a:schemeClr val="dk1"/>
                </a:solidFill>
                <a:latin typeface="Quicksand"/>
                <a:ea typeface="Quicksand"/>
                <a:cs typeface="Quicksand"/>
                <a:sym typeface="Quicksand"/>
              </a:rPr>
              <a:t> Now, </a:t>
            </a:r>
            <a:r>
              <a:rPr b="1" i="0" lang="en-IN" sz="2800" u="none" cap="none" strike="noStrike">
                <a:solidFill>
                  <a:schemeClr val="dk1"/>
                </a:solidFill>
                <a:latin typeface="Quicksand"/>
                <a:ea typeface="Quicksand"/>
                <a:cs typeface="Quicksand"/>
                <a:sym typeface="Quicksand"/>
              </a:rPr>
              <a:t>MAX </a:t>
            </a:r>
            <a:r>
              <a:rPr b="0" i="0" lang="en-IN" sz="2800" u="none" cap="none" strike="noStrike">
                <a:solidFill>
                  <a:schemeClr val="dk1"/>
                </a:solidFill>
                <a:latin typeface="Quicksand"/>
                <a:ea typeface="Quicksand"/>
                <a:cs typeface="Quicksand"/>
                <a:sym typeface="Quicksand"/>
              </a:rPr>
              <a:t>will backtrack to the initial node and choose the best path where his utility value will be the maximum.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800"/>
              <a:buFont typeface="Arial"/>
              <a:buChar char="•"/>
            </a:pPr>
            <a:r>
              <a:rPr b="0" i="0" lang="en-IN" sz="2800" u="none" cap="none" strike="noStrike">
                <a:solidFill>
                  <a:schemeClr val="dk1"/>
                </a:solidFill>
                <a:latin typeface="Quicksand"/>
                <a:ea typeface="Quicksand"/>
                <a:cs typeface="Quicksand"/>
                <a:sym typeface="Quicksand"/>
              </a:rPr>
              <a:t> After this, its </a:t>
            </a:r>
            <a:r>
              <a:rPr b="1" i="0" lang="en-IN" sz="2800" u="none" cap="none" strike="noStrike">
                <a:solidFill>
                  <a:schemeClr val="dk1"/>
                </a:solidFill>
                <a:latin typeface="Quicksand"/>
                <a:ea typeface="Quicksand"/>
                <a:cs typeface="Quicksand"/>
                <a:sym typeface="Quicksand"/>
              </a:rPr>
              <a:t>MIN</a:t>
            </a:r>
            <a:r>
              <a:rPr b="0" i="0" lang="en-IN" sz="2800" u="none" cap="none" strike="noStrike">
                <a:solidFill>
                  <a:schemeClr val="dk1"/>
                </a:solidFill>
                <a:latin typeface="Quicksand"/>
                <a:ea typeface="Quicksand"/>
                <a:cs typeface="Quicksand"/>
                <a:sym typeface="Quicksand"/>
              </a:rPr>
              <a:t> chance.</a:t>
            </a:r>
            <a:r>
              <a:rPr b="1" i="0" lang="en-IN" sz="2800" u="none" cap="none" strike="noStrike">
                <a:solidFill>
                  <a:schemeClr val="dk1"/>
                </a:solidFill>
                <a:latin typeface="Quicksand"/>
                <a:ea typeface="Quicksand"/>
                <a:cs typeface="Quicksand"/>
                <a:sym typeface="Quicksand"/>
              </a:rPr>
              <a:t> MIN </a:t>
            </a:r>
            <a:r>
              <a:rPr b="0" i="0" lang="en-IN" sz="2800" u="none" cap="none" strike="noStrike">
                <a:solidFill>
                  <a:schemeClr val="dk1"/>
                </a:solidFill>
                <a:latin typeface="Quicksand"/>
                <a:ea typeface="Quicksand"/>
                <a:cs typeface="Quicksand"/>
                <a:sym typeface="Quicksand"/>
              </a:rPr>
              <a:t>will also propagate through a path and again will backtrack, but </a:t>
            </a:r>
            <a:r>
              <a:rPr b="1" i="0" lang="en-IN" sz="2800" u="none" cap="none" strike="noStrike">
                <a:solidFill>
                  <a:schemeClr val="dk1"/>
                </a:solidFill>
                <a:latin typeface="Quicksand"/>
                <a:ea typeface="Quicksand"/>
                <a:cs typeface="Quicksand"/>
                <a:sym typeface="Quicksand"/>
              </a:rPr>
              <a:t>MIN</a:t>
            </a:r>
            <a:r>
              <a:rPr b="0" i="0" lang="en-IN" sz="2800" u="none" cap="none" strike="noStrike">
                <a:solidFill>
                  <a:schemeClr val="dk1"/>
                </a:solidFill>
                <a:latin typeface="Quicksand"/>
                <a:ea typeface="Quicksand"/>
                <a:cs typeface="Quicksand"/>
                <a:sym typeface="Quicksand"/>
              </a:rPr>
              <a:t> will choose the path which could minimize </a:t>
            </a:r>
            <a:r>
              <a:rPr b="1" i="0" lang="en-IN" sz="2800" u="none" cap="none" strike="noStrike">
                <a:solidFill>
                  <a:schemeClr val="dk1"/>
                </a:solidFill>
                <a:latin typeface="Quicksand"/>
                <a:ea typeface="Quicksand"/>
                <a:cs typeface="Quicksand"/>
                <a:sym typeface="Quicksand"/>
              </a:rPr>
              <a:t>MAX</a:t>
            </a:r>
            <a:r>
              <a:rPr b="0" i="0" lang="en-IN" sz="2800" u="none" cap="none" strike="noStrike">
                <a:solidFill>
                  <a:schemeClr val="dk1"/>
                </a:solidFill>
                <a:latin typeface="Quicksand"/>
                <a:ea typeface="Quicksand"/>
                <a:cs typeface="Quicksand"/>
                <a:sym typeface="Quicksand"/>
              </a:rPr>
              <a:t> winning chances or the utility value.</a:t>
            </a:r>
            <a:endParaRPr b="0" i="0" sz="2800" u="none" cap="none" strike="noStrike">
              <a:solidFill>
                <a:schemeClr val="dk1"/>
              </a:solidFill>
              <a:latin typeface="Cambria"/>
              <a:ea typeface="Cambria"/>
              <a:cs typeface="Cambria"/>
              <a:sym typeface="Cambria"/>
            </a:endParaRPr>
          </a:p>
        </p:txBody>
      </p:sp>
      <p:sp>
        <p:nvSpPr>
          <p:cNvPr id="214" name="Google Shape;214;p16"/>
          <p:cNvSpPr txBox="1"/>
          <p:nvPr/>
        </p:nvSpPr>
        <p:spPr>
          <a:xfrm>
            <a:off x="657225" y="5386299"/>
            <a:ext cx="10344150" cy="120032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The time complexity of the minimax algorithm is O(b m).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The space complexity is O(bm) for an algorithm that generates all actions at once, or O(m) for an algorithm that generates actions one at a time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913776" y="56670"/>
            <a:ext cx="10364451" cy="71485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rPr lang="en-IN" cap="none"/>
              <a:t>Minimax algorithm</a:t>
            </a:r>
            <a:endParaRPr cap="none"/>
          </a:p>
        </p:txBody>
      </p:sp>
      <p:sp>
        <p:nvSpPr>
          <p:cNvPr id="220" name="Google Shape;220;p1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None/>
            </a:pPr>
            <a:r>
              <a:t/>
            </a:r>
            <a:endParaRPr/>
          </a:p>
        </p:txBody>
      </p:sp>
      <p:pic>
        <p:nvPicPr>
          <p:cNvPr id="221" name="Google Shape;221;p17"/>
          <p:cNvPicPr preferRelativeResize="0"/>
          <p:nvPr/>
        </p:nvPicPr>
        <p:blipFill rotWithShape="1">
          <a:blip r:embed="rId3">
            <a:alphaModFix/>
          </a:blip>
          <a:srcRect b="0" l="0" r="0" t="0"/>
          <a:stretch/>
        </p:blipFill>
        <p:spPr>
          <a:xfrm>
            <a:off x="2502336" y="820408"/>
            <a:ext cx="8160812" cy="598092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185113" y="161317"/>
            <a:ext cx="10364451" cy="44828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Cambria"/>
              <a:buNone/>
            </a:pPr>
            <a:r>
              <a:rPr b="1" lang="en-IN"/>
              <a:t>ALPHA –BETA PRUNING</a:t>
            </a:r>
            <a:endParaRPr/>
          </a:p>
        </p:txBody>
      </p:sp>
      <p:sp>
        <p:nvSpPr>
          <p:cNvPr id="227" name="Google Shape;227;p18"/>
          <p:cNvSpPr txBox="1"/>
          <p:nvPr>
            <p:ph idx="1" type="body"/>
          </p:nvPr>
        </p:nvSpPr>
        <p:spPr>
          <a:xfrm>
            <a:off x="913775" y="828675"/>
            <a:ext cx="10364452" cy="4962525"/>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lang="en-IN" sz="2400" cap="none">
                <a:latin typeface="Calibri"/>
                <a:ea typeface="Calibri"/>
                <a:cs typeface="Calibri"/>
                <a:sym typeface="Calibri"/>
              </a:rPr>
              <a:t>The problem with the minmax search is that the number of game states it has to examine is exponential in the depth of the tree.</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We can eliminate or do pruning in the game tree</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This particular technique is called </a:t>
            </a:r>
            <a:r>
              <a:rPr b="1" i="1" lang="en-IN" sz="2400" cap="none">
                <a:latin typeface="Calibri"/>
                <a:ea typeface="Calibri"/>
                <a:cs typeface="Calibri"/>
                <a:sym typeface="Calibri"/>
              </a:rPr>
              <a:t>alpha-beta pruning</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It can be applied to trees of any depth, possible to prune entire subtrees rather than just leaves</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Alpha- denotes the max value and beta –denotes the min value</a:t>
            </a:r>
            <a:endParaRPr/>
          </a:p>
          <a:p>
            <a:pPr indent="0" lvl="0" marL="91440" rtl="0" algn="l">
              <a:lnSpc>
                <a:spcPct val="90000"/>
              </a:lnSpc>
              <a:spcBef>
                <a:spcPts val="1400"/>
              </a:spcBef>
              <a:spcAft>
                <a:spcPts val="0"/>
              </a:spcAft>
              <a:buSzPts val="2400"/>
              <a:buNone/>
            </a:pPr>
            <a:r>
              <a:t/>
            </a:r>
            <a:endParaRPr sz="2400" cap="none">
              <a:latin typeface="Calibri"/>
              <a:ea typeface="Calibri"/>
              <a:cs typeface="Calibri"/>
              <a:sym typeface="Calibri"/>
            </a:endParaRPr>
          </a:p>
        </p:txBody>
      </p:sp>
      <p:sp>
        <p:nvSpPr>
          <p:cNvPr id="228" name="Google Shape;228;p18"/>
          <p:cNvSpPr txBox="1"/>
          <p:nvPr/>
        </p:nvSpPr>
        <p:spPr>
          <a:xfrm>
            <a:off x="913773" y="4867870"/>
            <a:ext cx="10364451"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en-IN" sz="3200" u="none" cap="none" strike="noStrike">
                <a:solidFill>
                  <a:schemeClr val="dk1"/>
                </a:solidFill>
                <a:latin typeface="Arial"/>
                <a:ea typeface="Arial"/>
                <a:cs typeface="Arial"/>
                <a:sym typeface="Arial"/>
              </a:rPr>
              <a:t>Condition for Alpha-beta pruning: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200"/>
              <a:buFont typeface="Arial"/>
              <a:buNone/>
            </a:pPr>
            <a:r>
              <a:rPr b="0" i="0" lang="en-IN" sz="3200" u="none" cap="none" strike="noStrike">
                <a:solidFill>
                  <a:schemeClr val="dk1"/>
                </a:solidFill>
                <a:latin typeface="Inter"/>
                <a:ea typeface="Inter"/>
                <a:cs typeface="Inter"/>
                <a:sym typeface="Inter"/>
              </a:rPr>
              <a:t>The main condition which required for alpha-beta pruning is: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200"/>
              <a:buFont typeface="Arial"/>
              <a:buNone/>
            </a:pPr>
            <a:r>
              <a:rPr b="0" i="0" lang="en-IN" sz="3200" u="none" cap="none" strike="noStrike">
                <a:solidFill>
                  <a:schemeClr val="dk1"/>
                </a:solidFill>
                <a:latin typeface="Inter"/>
                <a:ea typeface="Inter"/>
                <a:cs typeface="Inter"/>
                <a:sym typeface="Inter"/>
              </a:rPr>
              <a:t>α&gt;=β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graphicFrame>
        <p:nvGraphicFramePr>
          <p:cNvPr id="233" name="Google Shape;233;p19"/>
          <p:cNvGraphicFramePr/>
          <p:nvPr/>
        </p:nvGraphicFramePr>
        <p:xfrm>
          <a:off x="285751" y="228600"/>
          <a:ext cx="11701462" cy="6457950"/>
        </p:xfrm>
        <a:graphic>
          <a:graphicData uri="http://schemas.openxmlformats.org/presentationml/2006/ole">
            <mc:AlternateContent>
              <mc:Choice Requires="v">
                <p:oleObj r:id="rId4" imgH="6457950" imgW="11701462" progId="PBrush" spid="_x0000_s1">
                  <p:embed/>
                </p:oleObj>
              </mc:Choice>
              <mc:Fallback>
                <p:oleObj r:id="rId5" imgH="6457950" imgW="11701462" progId="PBrush">
                  <p:embed/>
                  <p:pic>
                    <p:nvPicPr>
                      <p:cNvPr id="233" name="Google Shape;233;p19"/>
                      <p:cNvPicPr preferRelativeResize="0"/>
                      <p:nvPr/>
                    </p:nvPicPr>
                    <p:blipFill rotWithShape="1">
                      <a:blip r:embed="rId6">
                        <a:alphaModFix/>
                      </a:blip>
                      <a:srcRect b="0" l="0" r="0" t="0"/>
                      <a:stretch/>
                    </p:blipFill>
                    <p:spPr>
                      <a:xfrm>
                        <a:off x="285751" y="228600"/>
                        <a:ext cx="11701462" cy="6457950"/>
                      </a:xfrm>
                      <a:prstGeom prst="rect">
                        <a:avLst/>
                      </a:prstGeom>
                      <a:noFill/>
                      <a:ln>
                        <a:noFill/>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0"/>
          <p:cNvSpPr txBox="1"/>
          <p:nvPr>
            <p:ph idx="1" type="body"/>
          </p:nvPr>
        </p:nvSpPr>
        <p:spPr>
          <a:xfrm>
            <a:off x="914400" y="609601"/>
            <a:ext cx="10363200" cy="1579920"/>
          </a:xfrm>
          <a:prstGeom prst="rect">
            <a:avLst/>
          </a:prstGeom>
          <a:noFill/>
          <a:ln>
            <a:noFill/>
          </a:ln>
        </p:spPr>
        <p:txBody>
          <a:bodyPr anchorCtr="0" anchor="t" bIns="45700" lIns="45700" spcFirstLastPara="1" rIns="45700" wrap="square" tIns="45700">
            <a:spAutoFit/>
          </a:bodyPr>
          <a:lstStyle/>
          <a:p>
            <a:pPr indent="-91440" lvl="0" marL="91440" rtl="0" algn="l">
              <a:lnSpc>
                <a:spcPct val="90000"/>
              </a:lnSpc>
              <a:spcBef>
                <a:spcPts val="0"/>
              </a:spcBef>
              <a:spcAft>
                <a:spcPts val="0"/>
              </a:spcAft>
              <a:buSzPts val="2400"/>
              <a:buChar char=" "/>
            </a:pPr>
            <a:r>
              <a:rPr lang="en-IN" sz="2400" cap="none">
                <a:latin typeface="Calibri"/>
                <a:ea typeface="Calibri"/>
                <a:cs typeface="Calibri"/>
                <a:sym typeface="Calibri"/>
              </a:rPr>
              <a:t>Let the two unevaluated successors of node C have values x and y.</a:t>
            </a:r>
            <a:endParaRPr/>
          </a:p>
          <a:p>
            <a:pPr indent="-91440" lvl="0" marL="91440" rtl="0" algn="l">
              <a:lnSpc>
                <a:spcPct val="90000"/>
              </a:lnSpc>
              <a:spcBef>
                <a:spcPts val="1400"/>
              </a:spcBef>
              <a:spcAft>
                <a:spcPts val="0"/>
              </a:spcAft>
              <a:buSzPts val="2400"/>
              <a:buChar char=" "/>
            </a:pPr>
            <a:r>
              <a:rPr lang="en-IN" sz="2400" cap="none">
                <a:latin typeface="Calibri"/>
                <a:ea typeface="Calibri"/>
                <a:cs typeface="Calibri"/>
                <a:sym typeface="Calibri"/>
              </a:rPr>
              <a:t> Then the value of the root node is given by </a:t>
            </a:r>
            <a:endParaRPr/>
          </a:p>
          <a:p>
            <a:pPr indent="0" lvl="0" marL="91440" rtl="0" algn="l">
              <a:lnSpc>
                <a:spcPct val="90000"/>
              </a:lnSpc>
              <a:spcBef>
                <a:spcPts val="1400"/>
              </a:spcBef>
              <a:spcAft>
                <a:spcPts val="0"/>
              </a:spcAft>
              <a:buSzPts val="2200"/>
              <a:buNone/>
            </a:pPr>
            <a:r>
              <a:t/>
            </a:r>
            <a:endParaRPr cap="none">
              <a:latin typeface="Calibri"/>
              <a:ea typeface="Calibri"/>
              <a:cs typeface="Calibri"/>
              <a:sym typeface="Calibri"/>
            </a:endParaRPr>
          </a:p>
        </p:txBody>
      </p:sp>
      <p:graphicFrame>
        <p:nvGraphicFramePr>
          <p:cNvPr id="239" name="Google Shape;239;p20"/>
          <p:cNvGraphicFramePr/>
          <p:nvPr/>
        </p:nvGraphicFramePr>
        <p:xfrm>
          <a:off x="1357313" y="1728789"/>
          <a:ext cx="9544049" cy="2189162"/>
        </p:xfrm>
        <a:graphic>
          <a:graphicData uri="http://schemas.openxmlformats.org/presentationml/2006/ole">
            <mc:AlternateContent>
              <mc:Choice Requires="v">
                <p:oleObj r:id="rId4" imgH="2189162" imgW="9544049" progId="PBrush" spid="_x0000_s1">
                  <p:embed/>
                </p:oleObj>
              </mc:Choice>
              <mc:Fallback>
                <p:oleObj r:id="rId5" imgH="2189162" imgW="9544049" progId="PBrush">
                  <p:embed/>
                  <p:pic>
                    <p:nvPicPr>
                      <p:cNvPr id="239" name="Google Shape;239;p20"/>
                      <p:cNvPicPr preferRelativeResize="0"/>
                      <p:nvPr/>
                    </p:nvPicPr>
                    <p:blipFill rotWithShape="1">
                      <a:blip r:embed="rId6">
                        <a:alphaModFix/>
                      </a:blip>
                      <a:srcRect b="0" l="0" r="0" t="0"/>
                      <a:stretch/>
                    </p:blipFill>
                    <p:spPr>
                      <a:xfrm>
                        <a:off x="1357313" y="1728789"/>
                        <a:ext cx="9544049" cy="2189162"/>
                      </a:xfrm>
                      <a:prstGeom prst="rect">
                        <a:avLst/>
                      </a:prstGeom>
                      <a:noFill/>
                      <a:ln>
                        <a:noFill/>
                      </a:ln>
                    </p:spPr>
                  </p:pic>
                </p:oleObj>
              </mc:Fallback>
            </mc:AlternateContent>
          </a:graphicData>
        </a:graphic>
      </p:graphicFrame>
      <p:sp>
        <p:nvSpPr>
          <p:cNvPr id="240" name="Google Shape;240;p20"/>
          <p:cNvSpPr txBox="1"/>
          <p:nvPr/>
        </p:nvSpPr>
        <p:spPr>
          <a:xfrm>
            <a:off x="1632348" y="4548872"/>
            <a:ext cx="9397602" cy="83099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the value of the root and hence the minimax decision are independent of the values of the pruned leaves x and 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ph idx="1" type="body"/>
          </p:nvPr>
        </p:nvSpPr>
        <p:spPr>
          <a:xfrm>
            <a:off x="913774" y="466856"/>
            <a:ext cx="10364452" cy="3424107"/>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lang="en-IN" sz="2400" cap="none">
                <a:latin typeface="Calibri"/>
                <a:ea typeface="Calibri"/>
                <a:cs typeface="Calibri"/>
                <a:sym typeface="Calibri"/>
              </a:rPr>
              <a:t>Alpha–beta pruning gets its name from the following two parameters that describe bounds on the backed-up values that appear anywhere along the path</a:t>
            </a:r>
            <a:endParaRPr/>
          </a:p>
        </p:txBody>
      </p:sp>
      <p:graphicFrame>
        <p:nvGraphicFramePr>
          <p:cNvPr id="246" name="Google Shape;246;p21"/>
          <p:cNvGraphicFramePr/>
          <p:nvPr/>
        </p:nvGraphicFramePr>
        <p:xfrm>
          <a:off x="700088" y="1585913"/>
          <a:ext cx="11315700" cy="2564550"/>
        </p:xfrm>
        <a:graphic>
          <a:graphicData uri="http://schemas.openxmlformats.org/presentationml/2006/ole">
            <mc:AlternateContent>
              <mc:Choice Requires="v">
                <p:oleObj r:id="rId4" imgH="2564550" imgW="11315700" progId="PBrush" spid="_x0000_s1">
                  <p:embed/>
                </p:oleObj>
              </mc:Choice>
              <mc:Fallback>
                <p:oleObj r:id="rId5" imgH="2564550" imgW="11315700" progId="PBrush">
                  <p:embed/>
                  <p:pic>
                    <p:nvPicPr>
                      <p:cNvPr id="246" name="Google Shape;246;p21"/>
                      <p:cNvPicPr preferRelativeResize="0"/>
                      <p:nvPr/>
                    </p:nvPicPr>
                    <p:blipFill rotWithShape="1">
                      <a:blip r:embed="rId6">
                        <a:alphaModFix/>
                      </a:blip>
                      <a:srcRect b="0" l="0" r="0" t="0"/>
                      <a:stretch/>
                    </p:blipFill>
                    <p:spPr>
                      <a:xfrm>
                        <a:off x="700088" y="1585913"/>
                        <a:ext cx="11315700" cy="2564550"/>
                      </a:xfrm>
                      <a:prstGeom prst="rect">
                        <a:avLst/>
                      </a:prstGeom>
                      <a:noFill/>
                      <a:ln>
                        <a:noFill/>
                      </a:ln>
                    </p:spPr>
                  </p:pic>
                </p:oleObj>
              </mc:Fallback>
            </mc:AlternateContent>
          </a:graphicData>
        </a:graphic>
      </p:graphicFrame>
      <p:sp>
        <p:nvSpPr>
          <p:cNvPr id="247" name="Google Shape;247;p21"/>
          <p:cNvSpPr txBox="1"/>
          <p:nvPr/>
        </p:nvSpPr>
        <p:spPr>
          <a:xfrm>
            <a:off x="700088" y="4647723"/>
            <a:ext cx="11491912" cy="156966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Alpha–beta search updates the values of α and β as it goes along and prunes the remaining branches at a node (i.e., terminates the recursive call) as soon as the value of the current node is known to be worse than the current α or β value for MAX or MIN, respectively.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t/>
            </a:r>
            <a:endParaRPr/>
          </a:p>
        </p:txBody>
      </p:sp>
      <p:sp>
        <p:nvSpPr>
          <p:cNvPr id="253" name="Google Shape;253;p22"/>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None/>
            </a:pPr>
            <a:r>
              <a:t/>
            </a:r>
            <a:endParaRPr/>
          </a:p>
        </p:txBody>
      </p:sp>
      <p:graphicFrame>
        <p:nvGraphicFramePr>
          <p:cNvPr id="254" name="Google Shape;254;p22"/>
          <p:cNvGraphicFramePr/>
          <p:nvPr/>
        </p:nvGraphicFramePr>
        <p:xfrm>
          <a:off x="671513" y="100013"/>
          <a:ext cx="10364451" cy="6329362"/>
        </p:xfrm>
        <a:graphic>
          <a:graphicData uri="http://schemas.openxmlformats.org/presentationml/2006/ole">
            <mc:AlternateContent>
              <mc:Choice Requires="v">
                <p:oleObj r:id="rId4" imgH="6329362" imgW="10364451" progId="PBrush" spid="_x0000_s1">
                  <p:embed/>
                </p:oleObj>
              </mc:Choice>
              <mc:Fallback>
                <p:oleObj r:id="rId5" imgH="6329362" imgW="10364451" progId="PBrush">
                  <p:embed/>
                  <p:pic>
                    <p:nvPicPr>
                      <p:cNvPr id="254" name="Google Shape;254;p22"/>
                      <p:cNvPicPr preferRelativeResize="0"/>
                      <p:nvPr/>
                    </p:nvPicPr>
                    <p:blipFill rotWithShape="1">
                      <a:blip r:embed="rId6">
                        <a:alphaModFix/>
                      </a:blip>
                      <a:srcRect b="0" l="0" r="0" t="0"/>
                      <a:stretch/>
                    </p:blipFill>
                    <p:spPr>
                      <a:xfrm>
                        <a:off x="671513" y="100013"/>
                        <a:ext cx="10364451" cy="6329362"/>
                      </a:xfrm>
                      <a:prstGeom prst="rect">
                        <a:avLst/>
                      </a:prstGeom>
                      <a:noFill/>
                      <a:ln>
                        <a:noFill/>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txBox="1"/>
          <p:nvPr>
            <p:ph type="title"/>
          </p:nvPr>
        </p:nvSpPr>
        <p:spPr>
          <a:xfrm>
            <a:off x="866150" y="355362"/>
            <a:ext cx="10364451" cy="58761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Cambria"/>
              <a:buNone/>
            </a:pPr>
            <a:r>
              <a:rPr lang="en-IN"/>
              <a:t>EXAMPLE</a:t>
            </a:r>
            <a:endParaRPr/>
          </a:p>
        </p:txBody>
      </p:sp>
      <p:graphicFrame>
        <p:nvGraphicFramePr>
          <p:cNvPr id="260" name="Google Shape;260;p23"/>
          <p:cNvGraphicFramePr/>
          <p:nvPr/>
        </p:nvGraphicFramePr>
        <p:xfrm>
          <a:off x="1504949" y="942975"/>
          <a:ext cx="8924925" cy="4457700"/>
        </p:xfrm>
        <a:graphic>
          <a:graphicData uri="http://schemas.openxmlformats.org/presentationml/2006/ole">
            <mc:AlternateContent>
              <mc:Choice Requires="v">
                <p:oleObj r:id="rId4" imgH="4457700" imgW="8924925" progId="PBrush" spid="_x0000_s1">
                  <p:embed/>
                </p:oleObj>
              </mc:Choice>
              <mc:Fallback>
                <p:oleObj r:id="rId5" imgH="4457700" imgW="8924925" progId="PBrush">
                  <p:embed/>
                  <p:pic>
                    <p:nvPicPr>
                      <p:cNvPr id="260" name="Google Shape;260;p23"/>
                      <p:cNvPicPr preferRelativeResize="0"/>
                      <p:nvPr/>
                    </p:nvPicPr>
                    <p:blipFill rotWithShape="1">
                      <a:blip r:embed="rId6">
                        <a:alphaModFix/>
                      </a:blip>
                      <a:srcRect b="0" l="0" r="0" t="0"/>
                      <a:stretch/>
                    </p:blipFill>
                    <p:spPr>
                      <a:xfrm>
                        <a:off x="1504949" y="942975"/>
                        <a:ext cx="8924925" cy="4457700"/>
                      </a:xfrm>
                      <a:prstGeom prst="rect">
                        <a:avLst/>
                      </a:prstGeom>
                      <a:noFill/>
                      <a:ln>
                        <a:noFill/>
                      </a:ln>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4"/>
          <p:cNvSpPr txBox="1"/>
          <p:nvPr>
            <p:ph type="title"/>
          </p:nvPr>
        </p:nvSpPr>
        <p:spPr>
          <a:xfrm>
            <a:off x="913775" y="268712"/>
            <a:ext cx="10364451" cy="68855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Cambria"/>
              <a:buNone/>
            </a:pPr>
            <a:r>
              <a:rPr lang="en-IN"/>
              <a:t>MOVE ORDERING</a:t>
            </a:r>
            <a:endParaRPr/>
          </a:p>
        </p:txBody>
      </p:sp>
      <p:sp>
        <p:nvSpPr>
          <p:cNvPr id="266" name="Google Shape;266;p24"/>
          <p:cNvSpPr txBox="1"/>
          <p:nvPr>
            <p:ph idx="1" type="body"/>
          </p:nvPr>
        </p:nvSpPr>
        <p:spPr>
          <a:xfrm>
            <a:off x="728038" y="957264"/>
            <a:ext cx="10364452" cy="3655699"/>
          </a:xfrm>
          <a:prstGeom prst="rect">
            <a:avLst/>
          </a:prstGeom>
          <a:noFill/>
          <a:ln>
            <a:noFill/>
          </a:ln>
        </p:spPr>
        <p:txBody>
          <a:bodyPr anchorCtr="0" anchor="t" bIns="45700" lIns="45700" spcFirstLastPara="1" rIns="45700" wrap="square" tIns="45700">
            <a:normAutofit fontScale="92500"/>
          </a:bodyPr>
          <a:lstStyle/>
          <a:p>
            <a:pPr indent="-140970" lvl="0" marL="91440" rtl="0" algn="l">
              <a:lnSpc>
                <a:spcPct val="90000"/>
              </a:lnSpc>
              <a:spcBef>
                <a:spcPts val="0"/>
              </a:spcBef>
              <a:spcAft>
                <a:spcPts val="0"/>
              </a:spcAft>
              <a:buSzPct val="100000"/>
              <a:buChar char=" "/>
            </a:pPr>
            <a:r>
              <a:rPr lang="en-IN" sz="2400" cap="none">
                <a:solidFill>
                  <a:srgbClr val="000000"/>
                </a:solidFill>
                <a:latin typeface="Calibri"/>
                <a:ea typeface="Calibri"/>
                <a:cs typeface="Calibri"/>
                <a:sym typeface="Calibri"/>
              </a:rPr>
              <a:t>The effectiveness of alpha–beta pruning is highly dependent on the order in which the states are examined</a:t>
            </a:r>
            <a:endParaRPr/>
          </a:p>
          <a:p>
            <a:pPr indent="-140970" lvl="0" marL="91440" rtl="0" algn="l">
              <a:lnSpc>
                <a:spcPct val="90000"/>
              </a:lnSpc>
              <a:spcBef>
                <a:spcPts val="1400"/>
              </a:spcBef>
              <a:spcAft>
                <a:spcPts val="0"/>
              </a:spcAft>
              <a:buSzPct val="100000"/>
              <a:buChar char=" "/>
            </a:pPr>
            <a:r>
              <a:rPr lang="en-IN" sz="2400" cap="none">
                <a:solidFill>
                  <a:srgbClr val="000000"/>
                </a:solidFill>
                <a:latin typeface="Calibri"/>
                <a:ea typeface="Calibri"/>
                <a:cs typeface="Calibri"/>
                <a:sym typeface="Calibri"/>
              </a:rPr>
              <a:t>Eg, here we could not prune any successors of D</a:t>
            </a:r>
            <a:r>
              <a:rPr lang="en-IN" cap="none">
                <a:latin typeface="Calibri"/>
                <a:ea typeface="Calibri"/>
                <a:cs typeface="Calibri"/>
                <a:sym typeface="Calibri"/>
              </a:rPr>
              <a:t> </a:t>
            </a:r>
            <a:r>
              <a:rPr lang="en-IN" sz="2400" cap="none">
                <a:solidFill>
                  <a:srgbClr val="000000"/>
                </a:solidFill>
                <a:latin typeface="Calibri"/>
                <a:ea typeface="Calibri"/>
                <a:cs typeface="Calibri"/>
                <a:sym typeface="Calibri"/>
              </a:rPr>
              <a:t>at all because the worst successors (from the point of view of MIN) were generated first</a:t>
            </a:r>
            <a:endParaRPr/>
          </a:p>
          <a:p>
            <a:pPr indent="-140970" lvl="0" marL="91440" rtl="0" algn="l">
              <a:lnSpc>
                <a:spcPct val="90000"/>
              </a:lnSpc>
              <a:spcBef>
                <a:spcPts val="1400"/>
              </a:spcBef>
              <a:spcAft>
                <a:spcPts val="0"/>
              </a:spcAft>
              <a:buSzPct val="100000"/>
              <a:buChar char=" "/>
            </a:pPr>
            <a:r>
              <a:rPr lang="en-IN" sz="2400" cap="none">
                <a:solidFill>
                  <a:srgbClr val="000000"/>
                </a:solidFill>
                <a:latin typeface="Calibri"/>
                <a:ea typeface="Calibri"/>
                <a:cs typeface="Calibri"/>
                <a:sym typeface="Calibri"/>
              </a:rPr>
              <a:t>If the third successor of D had been generated first, we would have been able to prune the other two.</a:t>
            </a:r>
            <a:endParaRPr/>
          </a:p>
          <a:p>
            <a:pPr indent="-140970" lvl="0" marL="91440" rtl="0" algn="l">
              <a:lnSpc>
                <a:spcPct val="90000"/>
              </a:lnSpc>
              <a:spcBef>
                <a:spcPts val="1400"/>
              </a:spcBef>
              <a:spcAft>
                <a:spcPts val="0"/>
              </a:spcAft>
              <a:buSzPct val="100000"/>
              <a:buChar char=" "/>
            </a:pPr>
            <a:r>
              <a:rPr lang="en-IN" sz="2400" cap="none">
                <a:solidFill>
                  <a:srgbClr val="000000"/>
                </a:solidFill>
                <a:latin typeface="Calibri"/>
                <a:ea typeface="Calibri"/>
                <a:cs typeface="Calibri"/>
                <a:sym typeface="Calibri"/>
              </a:rPr>
              <a:t>It might be worthwhile to try to examine first the successors that are </a:t>
            </a:r>
            <a:r>
              <a:rPr lang="en-IN" cap="none">
                <a:latin typeface="Calibri"/>
                <a:ea typeface="Calibri"/>
                <a:cs typeface="Calibri"/>
                <a:sym typeface="Calibri"/>
              </a:rPr>
              <a:t> </a:t>
            </a:r>
            <a:r>
              <a:rPr lang="en-IN" sz="2400" cap="none">
                <a:solidFill>
                  <a:srgbClr val="000000"/>
                </a:solidFill>
                <a:latin typeface="Calibri"/>
                <a:ea typeface="Calibri"/>
                <a:cs typeface="Calibri"/>
                <a:sym typeface="Calibri"/>
              </a:rPr>
              <a:t>likely to be best</a:t>
            </a:r>
            <a:endParaRPr/>
          </a:p>
          <a:p>
            <a:pPr indent="-140970" lvl="0" marL="91440" rtl="0" algn="l">
              <a:lnSpc>
                <a:spcPct val="90000"/>
              </a:lnSpc>
              <a:spcBef>
                <a:spcPts val="1400"/>
              </a:spcBef>
              <a:spcAft>
                <a:spcPts val="0"/>
              </a:spcAft>
              <a:buSzPct val="100000"/>
              <a:buChar char=" "/>
            </a:pPr>
            <a:r>
              <a:rPr lang="en-IN" sz="2400" cap="none">
                <a:latin typeface="Calibri"/>
                <a:ea typeface="Calibri"/>
                <a:cs typeface="Calibri"/>
                <a:sym typeface="Calibri"/>
              </a:rPr>
              <a:t>The best moves are often called killer moves and to try them first is called the killer move heuristic</a:t>
            </a:r>
            <a:r>
              <a:rPr lang="en-IN" sz="2000"/>
              <a:t>.</a:t>
            </a:r>
            <a:endParaRPr sz="2400" cap="none">
              <a:solidFill>
                <a:srgbClr val="000000"/>
              </a:solidFill>
              <a:latin typeface="Calibri"/>
              <a:ea typeface="Calibri"/>
              <a:cs typeface="Calibri"/>
              <a:sym typeface="Calibri"/>
            </a:endParaRPr>
          </a:p>
        </p:txBody>
      </p:sp>
      <p:pic>
        <p:nvPicPr>
          <p:cNvPr id="267" name="Google Shape;267;p24"/>
          <p:cNvPicPr preferRelativeResize="0"/>
          <p:nvPr/>
        </p:nvPicPr>
        <p:blipFill rotWithShape="1">
          <a:blip r:embed="rId3">
            <a:alphaModFix/>
          </a:blip>
          <a:srcRect b="1280" l="8158" r="7950" t="66284"/>
          <a:stretch/>
        </p:blipFill>
        <p:spPr>
          <a:xfrm>
            <a:off x="1847851" y="4612963"/>
            <a:ext cx="8124826" cy="19763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txBox="1"/>
          <p:nvPr>
            <p:ph idx="1" type="body"/>
          </p:nvPr>
        </p:nvSpPr>
        <p:spPr>
          <a:xfrm>
            <a:off x="585162" y="409705"/>
            <a:ext cx="10364452" cy="3424107"/>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Char char=" "/>
            </a:pPr>
            <a:r>
              <a:rPr lang="en-IN" cap="none">
                <a:latin typeface="Calibri"/>
                <a:ea typeface="Calibri"/>
                <a:cs typeface="Calibri"/>
                <a:sym typeface="Calibri"/>
              </a:rPr>
              <a:t>In many games, repeated states occur frequently because of </a:t>
            </a:r>
            <a:r>
              <a:rPr b="1" i="1" lang="en-IN" cap="none">
                <a:latin typeface="Calibri"/>
                <a:ea typeface="Calibri"/>
                <a:cs typeface="Calibri"/>
                <a:sym typeface="Calibri"/>
              </a:rPr>
              <a:t>transpositions</a:t>
            </a:r>
            <a:endParaRPr/>
          </a:p>
          <a:p>
            <a:pPr indent="-91440" lvl="0" marL="91440" rtl="0" algn="l">
              <a:lnSpc>
                <a:spcPct val="90000"/>
              </a:lnSpc>
              <a:spcBef>
                <a:spcPts val="1400"/>
              </a:spcBef>
              <a:spcAft>
                <a:spcPts val="0"/>
              </a:spcAft>
              <a:buSzPts val="2200"/>
              <a:buChar char=" "/>
            </a:pPr>
            <a:r>
              <a:rPr lang="en-IN" cap="none">
                <a:latin typeface="Calibri"/>
                <a:ea typeface="Calibri"/>
                <a:cs typeface="Calibri"/>
                <a:sym typeface="Calibri"/>
              </a:rPr>
              <a:t>The hash table of previously seen positions is traditionally called a transposition table; it is essentially identical to the explored list in GRAPH-SEARCH</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77313f64b1_0_170"/>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78" name="Google Shape;278;g377313f64b1_0_170"/>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279" name="Google Shape;279;g377313f64b1_0_170"/>
          <p:cNvPicPr preferRelativeResize="0"/>
          <p:nvPr/>
        </p:nvPicPr>
        <p:blipFill>
          <a:blip r:embed="rId3">
            <a:alphaModFix/>
          </a:blip>
          <a:stretch>
            <a:fillRect/>
          </a:stretch>
        </p:blipFill>
        <p:spPr>
          <a:xfrm>
            <a:off x="314325" y="447675"/>
            <a:ext cx="11563350" cy="5962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6"/>
          <p:cNvSpPr txBox="1"/>
          <p:nvPr>
            <p:ph type="title"/>
          </p:nvPr>
        </p:nvSpPr>
        <p:spPr>
          <a:xfrm>
            <a:off x="442287" y="0"/>
            <a:ext cx="10364451" cy="9572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Cambria"/>
              <a:buNone/>
            </a:pPr>
            <a:r>
              <a:rPr lang="en-IN"/>
              <a:t>CONSTRAINT SATISFACTION PROBLEMS(CSP)</a:t>
            </a:r>
            <a:endParaRPr/>
          </a:p>
        </p:txBody>
      </p:sp>
      <p:sp>
        <p:nvSpPr>
          <p:cNvPr id="285" name="Google Shape;285;p26"/>
          <p:cNvSpPr txBox="1"/>
          <p:nvPr>
            <p:ph idx="1" type="body"/>
          </p:nvPr>
        </p:nvSpPr>
        <p:spPr>
          <a:xfrm>
            <a:off x="556586" y="1385888"/>
            <a:ext cx="10873413" cy="3424107"/>
          </a:xfrm>
          <a:prstGeom prst="rect">
            <a:avLst/>
          </a:prstGeom>
          <a:noFill/>
          <a:ln>
            <a:noFill/>
          </a:ln>
        </p:spPr>
        <p:txBody>
          <a:bodyPr anchorCtr="0" anchor="t" bIns="45700" lIns="45700" spcFirstLastPara="1" rIns="45700" wrap="square" tIns="45700">
            <a:noAutofit/>
          </a:bodyPr>
          <a:lstStyle/>
          <a:p>
            <a:pPr indent="-91440" lvl="0" marL="91440" rtl="0" algn="l">
              <a:lnSpc>
                <a:spcPct val="90000"/>
              </a:lnSpc>
              <a:spcBef>
                <a:spcPts val="0"/>
              </a:spcBef>
              <a:spcAft>
                <a:spcPts val="0"/>
              </a:spcAft>
              <a:buSzPts val="2200"/>
              <a:buChar char=" "/>
            </a:pPr>
            <a:r>
              <a:rPr lang="en-IN" cap="none">
                <a:latin typeface="Calibri"/>
                <a:ea typeface="Calibri"/>
                <a:cs typeface="Calibri"/>
                <a:sym typeface="Calibri"/>
              </a:rPr>
              <a:t>The search algorithms we discussed so far had no knowledge of the states representation (black box). -</a:t>
            </a:r>
            <a:r>
              <a:rPr lang="en-IN" sz="2000" cap="none">
                <a:latin typeface="Calibri"/>
                <a:ea typeface="Calibri"/>
                <a:cs typeface="Calibri"/>
                <a:sym typeface="Calibri"/>
              </a:rPr>
              <a:t> For each problem we had to design a new state representation (and embed in it the sub-routines we pass to the search algorithms).</a:t>
            </a:r>
            <a:endParaRPr/>
          </a:p>
          <a:p>
            <a:pPr indent="-91440" lvl="0" marL="91440" rtl="0" algn="l">
              <a:lnSpc>
                <a:spcPct val="90000"/>
              </a:lnSpc>
              <a:spcBef>
                <a:spcPts val="1600"/>
              </a:spcBef>
              <a:spcAft>
                <a:spcPts val="0"/>
              </a:spcAft>
              <a:buSzPts val="2200"/>
              <a:buChar char=" "/>
            </a:pPr>
            <a:r>
              <a:rPr lang="en-IN" cap="none">
                <a:latin typeface="Calibri"/>
                <a:ea typeface="Calibri"/>
                <a:cs typeface="Calibri"/>
                <a:sym typeface="Calibri"/>
              </a:rPr>
              <a:t>Instead we can have a general state representation that works well for many different problems.</a:t>
            </a:r>
            <a:endParaRPr/>
          </a:p>
          <a:p>
            <a:pPr indent="-91440" lvl="0" marL="91440" rtl="0" algn="l">
              <a:lnSpc>
                <a:spcPct val="90000"/>
              </a:lnSpc>
              <a:spcBef>
                <a:spcPts val="1400"/>
              </a:spcBef>
              <a:spcAft>
                <a:spcPts val="0"/>
              </a:spcAft>
              <a:buSzPts val="2200"/>
              <a:buChar char=" "/>
            </a:pPr>
            <a:r>
              <a:rPr lang="en-IN" cap="none">
                <a:latin typeface="Calibri"/>
                <a:ea typeface="Calibri"/>
                <a:cs typeface="Calibri"/>
                <a:sym typeface="Calibri"/>
              </a:rPr>
              <a:t>We can then build specialized search algorithms that operate efficiently on this general state representation. </a:t>
            </a:r>
            <a:endParaRPr/>
          </a:p>
          <a:p>
            <a:pPr indent="-91440" lvl="0" marL="91440" rtl="0" algn="l">
              <a:lnSpc>
                <a:spcPct val="90000"/>
              </a:lnSpc>
              <a:spcBef>
                <a:spcPts val="1400"/>
              </a:spcBef>
              <a:spcAft>
                <a:spcPts val="0"/>
              </a:spcAft>
              <a:buSzPts val="2200"/>
              <a:buChar char=" "/>
            </a:pPr>
            <a:r>
              <a:rPr lang="en-IN">
                <a:latin typeface="Calibri"/>
                <a:ea typeface="Calibri"/>
                <a:cs typeface="Calibri"/>
                <a:sym typeface="Calibri"/>
              </a:rPr>
              <a:t>Called as </a:t>
            </a:r>
            <a:r>
              <a:rPr b="1" i="1" lang="en-IN">
                <a:latin typeface="Calibri"/>
                <a:ea typeface="Calibri"/>
                <a:cs typeface="Calibri"/>
                <a:sym typeface="Calibri"/>
              </a:rPr>
              <a:t>CSP</a:t>
            </a:r>
            <a:r>
              <a:rPr b="1" i="1" lang="en-IN" cap="none">
                <a:latin typeface="Calibri"/>
                <a:ea typeface="Calibri"/>
                <a:cs typeface="Calibri"/>
                <a:sym typeface="Calibri"/>
              </a:rPr>
              <a:t>s – constraint satisfaction problems</a:t>
            </a:r>
            <a:r>
              <a:rPr lang="en-IN" cap="none">
                <a:latin typeface="Calibri"/>
                <a:ea typeface="Calibri"/>
                <a:cs typeface="Calibri"/>
                <a:sym typeface="Calibri"/>
              </a:rPr>
              <a:t>. </a:t>
            </a:r>
            <a:endParaRPr/>
          </a:p>
          <a:p>
            <a:pPr indent="-91440" lvl="0" marL="91440" rtl="0" algn="l">
              <a:lnSpc>
                <a:spcPct val="90000"/>
              </a:lnSpc>
              <a:spcBef>
                <a:spcPts val="1400"/>
              </a:spcBef>
              <a:spcAft>
                <a:spcPts val="0"/>
              </a:spcAft>
              <a:buSzPts val="2200"/>
              <a:buChar char=" "/>
            </a:pPr>
            <a:r>
              <a:rPr lang="en-IN" cap="none">
                <a:latin typeface="Calibri"/>
                <a:ea typeface="Calibri"/>
                <a:cs typeface="Calibri"/>
                <a:sym typeface="Calibri"/>
              </a:rPr>
              <a:t>Csp search algorithms take advantage of the structure of states and use </a:t>
            </a:r>
            <a:r>
              <a:rPr b="1" i="1" lang="en-IN" cap="none">
                <a:latin typeface="Calibri"/>
                <a:ea typeface="Calibri"/>
                <a:cs typeface="Calibri"/>
                <a:sym typeface="Calibri"/>
              </a:rPr>
              <a:t>general-purpose</a:t>
            </a:r>
            <a:r>
              <a:rPr lang="en-IN" cap="none">
                <a:latin typeface="Calibri"/>
                <a:ea typeface="Calibri"/>
                <a:cs typeface="Calibri"/>
                <a:sym typeface="Calibri"/>
              </a:rPr>
              <a:t> rather than</a:t>
            </a:r>
            <a:r>
              <a:rPr b="1" i="1" lang="en-IN" cap="none">
                <a:latin typeface="Calibri"/>
                <a:ea typeface="Calibri"/>
                <a:cs typeface="Calibri"/>
                <a:sym typeface="Calibri"/>
              </a:rPr>
              <a:t> problem-specific heuristics </a:t>
            </a:r>
            <a:r>
              <a:rPr lang="en-IN" cap="none">
                <a:latin typeface="Calibri"/>
                <a:ea typeface="Calibri"/>
                <a:cs typeface="Calibri"/>
                <a:sym typeface="Calibri"/>
              </a:rPr>
              <a:t>to enable the solution of complex problems. </a:t>
            </a:r>
            <a:endParaRPr/>
          </a:p>
          <a:p>
            <a:pPr indent="-91440" lvl="0" marL="91440" rtl="0" algn="l">
              <a:lnSpc>
                <a:spcPct val="90000"/>
              </a:lnSpc>
              <a:spcBef>
                <a:spcPts val="1400"/>
              </a:spcBef>
              <a:spcAft>
                <a:spcPts val="0"/>
              </a:spcAft>
              <a:buSzPts val="2200"/>
              <a:buChar char=" "/>
            </a:pPr>
            <a:r>
              <a:rPr lang="en-IN" cap="none">
                <a:latin typeface="Calibri"/>
                <a:ea typeface="Calibri"/>
                <a:cs typeface="Calibri"/>
                <a:sym typeface="Calibri"/>
              </a:rPr>
              <a:t>The main idea is to eliminate large portions of the search space all at once by identifying variable/value combinations that violate the constraints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77313f64b1_0_125"/>
          <p:cNvSpPr txBox="1"/>
          <p:nvPr>
            <p:ph type="title"/>
          </p:nvPr>
        </p:nvSpPr>
        <p:spPr>
          <a:xfrm>
            <a:off x="1024125" y="585221"/>
            <a:ext cx="9720000" cy="869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CSP</a:t>
            </a:r>
            <a:endParaRPr/>
          </a:p>
        </p:txBody>
      </p:sp>
      <p:sp>
        <p:nvSpPr>
          <p:cNvPr id="291" name="Google Shape;291;g377313f64b1_0_125"/>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292" name="Google Shape;292;g377313f64b1_0_125"/>
          <p:cNvPicPr preferRelativeResize="0"/>
          <p:nvPr/>
        </p:nvPicPr>
        <p:blipFill>
          <a:blip r:embed="rId3">
            <a:alphaModFix/>
          </a:blip>
          <a:stretch>
            <a:fillRect/>
          </a:stretch>
        </p:blipFill>
        <p:spPr>
          <a:xfrm>
            <a:off x="859575" y="1307975"/>
            <a:ext cx="9720000" cy="4447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77313f64b1_0_181"/>
          <p:cNvSpPr txBox="1"/>
          <p:nvPr/>
        </p:nvSpPr>
        <p:spPr>
          <a:xfrm>
            <a:off x="564381" y="205591"/>
            <a:ext cx="10022700" cy="397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dk1"/>
                </a:solidFill>
                <a:latin typeface="Open Sans"/>
                <a:ea typeface="Open Sans"/>
                <a:cs typeface="Open Sans"/>
                <a:sym typeface="Open Sans"/>
              </a:rPr>
              <a:t>A </a:t>
            </a:r>
            <a:r>
              <a:rPr b="1" i="0" lang="en-IN" sz="2800" u="none" cap="none" strike="noStrike">
                <a:solidFill>
                  <a:schemeClr val="dk1"/>
                </a:solidFill>
                <a:latin typeface="Open Sans"/>
                <a:ea typeface="Open Sans"/>
                <a:cs typeface="Open Sans"/>
                <a:sym typeface="Open Sans"/>
              </a:rPr>
              <a:t>constraint satisfaction problem (CSP)</a:t>
            </a:r>
            <a:r>
              <a:rPr b="0" i="0" lang="en-IN" sz="2800" u="none" cap="none" strike="noStrike">
                <a:solidFill>
                  <a:schemeClr val="dk1"/>
                </a:solidFill>
                <a:latin typeface="Open Sans"/>
                <a:ea typeface="Open Sans"/>
                <a:cs typeface="Open Sans"/>
                <a:sym typeface="Open Sans"/>
              </a:rPr>
              <a:t> is a problem that requires its solution within some limitations or conditions also known as constraints. It consists of the following: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Open Sans"/>
              <a:ea typeface="Open Sans"/>
              <a:cs typeface="Open Sans"/>
              <a:sym typeface="Open Sans"/>
            </a:endParaRPr>
          </a:p>
          <a:p>
            <a:pPr indent="-457200" lvl="1" marL="914400" marR="0" rtl="0" algn="l">
              <a:lnSpc>
                <a:spcPct val="100000"/>
              </a:lnSpc>
              <a:spcBef>
                <a:spcPts val="0"/>
              </a:spcBef>
              <a:spcAft>
                <a:spcPts val="0"/>
              </a:spcAft>
              <a:buClr>
                <a:schemeClr val="dk1"/>
              </a:buClr>
              <a:buSzPts val="2800"/>
              <a:buFont typeface="Noto Sans Symbols"/>
              <a:buChar char="⮚"/>
            </a:pPr>
            <a:r>
              <a:rPr b="0" i="0" lang="en-IN" sz="2800" u="none" cap="none" strike="noStrike">
                <a:solidFill>
                  <a:schemeClr val="dk1"/>
                </a:solidFill>
                <a:latin typeface="Open Sans"/>
                <a:ea typeface="Open Sans"/>
                <a:cs typeface="Open Sans"/>
                <a:sym typeface="Open Sans"/>
              </a:rPr>
              <a:t>A finite set of </a:t>
            </a:r>
            <a:r>
              <a:rPr b="1" i="0" lang="en-IN" sz="2800" u="none" cap="none" strike="noStrike">
                <a:solidFill>
                  <a:schemeClr val="dk1"/>
                </a:solidFill>
                <a:latin typeface="Open Sans"/>
                <a:ea typeface="Open Sans"/>
                <a:cs typeface="Open Sans"/>
                <a:sym typeface="Open Sans"/>
              </a:rPr>
              <a:t>variables</a:t>
            </a:r>
            <a:r>
              <a:rPr b="0" i="0" lang="en-IN" sz="2800" u="none" cap="none" strike="noStrike">
                <a:solidFill>
                  <a:schemeClr val="dk1"/>
                </a:solidFill>
                <a:latin typeface="Open Sans"/>
                <a:ea typeface="Open Sans"/>
                <a:cs typeface="Open Sans"/>
                <a:sym typeface="Open Sans"/>
              </a:rPr>
              <a:t> which stores the solution (V = {V1, V2, V3,....., Vn})</a:t>
            </a:r>
            <a:endParaRPr b="0" i="0" sz="1400" u="none" cap="none" strike="noStrike">
              <a:solidFill>
                <a:srgbClr val="000000"/>
              </a:solidFill>
              <a:latin typeface="Arial"/>
              <a:ea typeface="Arial"/>
              <a:cs typeface="Arial"/>
              <a:sym typeface="Arial"/>
            </a:endParaRPr>
          </a:p>
          <a:p>
            <a:pPr indent="-457200" lvl="1" marL="914400" marR="0" rtl="0" algn="l">
              <a:lnSpc>
                <a:spcPct val="100000"/>
              </a:lnSpc>
              <a:spcBef>
                <a:spcPts val="0"/>
              </a:spcBef>
              <a:spcAft>
                <a:spcPts val="0"/>
              </a:spcAft>
              <a:buClr>
                <a:schemeClr val="dk1"/>
              </a:buClr>
              <a:buSzPts val="2800"/>
              <a:buFont typeface="Noto Sans Symbols"/>
              <a:buChar char="⮚"/>
            </a:pPr>
            <a:r>
              <a:rPr b="0" i="0" lang="en-IN" sz="2800" u="none" cap="none" strike="noStrike">
                <a:solidFill>
                  <a:schemeClr val="dk1"/>
                </a:solidFill>
                <a:latin typeface="Open Sans"/>
                <a:ea typeface="Open Sans"/>
                <a:cs typeface="Open Sans"/>
                <a:sym typeface="Open Sans"/>
              </a:rPr>
              <a:t>A set of </a:t>
            </a:r>
            <a:r>
              <a:rPr b="1" i="0" lang="en-IN" sz="2800" u="none" cap="none" strike="noStrike">
                <a:solidFill>
                  <a:schemeClr val="dk1"/>
                </a:solidFill>
                <a:latin typeface="Open Sans"/>
                <a:ea typeface="Open Sans"/>
                <a:cs typeface="Open Sans"/>
                <a:sym typeface="Open Sans"/>
              </a:rPr>
              <a:t>discrete</a:t>
            </a:r>
            <a:r>
              <a:rPr b="0" i="0" lang="en-IN" sz="2800" u="none" cap="none" strike="noStrike">
                <a:solidFill>
                  <a:schemeClr val="dk1"/>
                </a:solidFill>
                <a:latin typeface="Open Sans"/>
                <a:ea typeface="Open Sans"/>
                <a:cs typeface="Open Sans"/>
                <a:sym typeface="Open Sans"/>
              </a:rPr>
              <a:t> values known as </a:t>
            </a:r>
            <a:r>
              <a:rPr b="1" i="0" lang="en-IN" sz="2800" u="none" cap="none" strike="noStrike">
                <a:solidFill>
                  <a:schemeClr val="dk1"/>
                </a:solidFill>
                <a:latin typeface="Open Sans"/>
                <a:ea typeface="Open Sans"/>
                <a:cs typeface="Open Sans"/>
                <a:sym typeface="Open Sans"/>
              </a:rPr>
              <a:t>domain</a:t>
            </a:r>
            <a:r>
              <a:rPr b="0" i="0" lang="en-IN" sz="2800" u="none" cap="none" strike="noStrike">
                <a:solidFill>
                  <a:schemeClr val="dk1"/>
                </a:solidFill>
                <a:latin typeface="Open Sans"/>
                <a:ea typeface="Open Sans"/>
                <a:cs typeface="Open Sans"/>
                <a:sym typeface="Open Sans"/>
              </a:rPr>
              <a:t> from which the solution is picked (D = {D1, D2, D3,.....,Dn})</a:t>
            </a:r>
            <a:endParaRPr b="0" i="0" sz="1400" u="none" cap="none" strike="noStrike">
              <a:solidFill>
                <a:srgbClr val="000000"/>
              </a:solidFill>
              <a:latin typeface="Arial"/>
              <a:ea typeface="Arial"/>
              <a:cs typeface="Arial"/>
              <a:sym typeface="Arial"/>
            </a:endParaRPr>
          </a:p>
          <a:p>
            <a:pPr indent="-457200" lvl="1" marL="914400" marR="0" rtl="0" algn="l">
              <a:lnSpc>
                <a:spcPct val="100000"/>
              </a:lnSpc>
              <a:spcBef>
                <a:spcPts val="0"/>
              </a:spcBef>
              <a:spcAft>
                <a:spcPts val="0"/>
              </a:spcAft>
              <a:buClr>
                <a:schemeClr val="dk1"/>
              </a:buClr>
              <a:buSzPts val="2800"/>
              <a:buFont typeface="Noto Sans Symbols"/>
              <a:buChar char="⮚"/>
            </a:pPr>
            <a:r>
              <a:rPr b="0" i="0" lang="en-IN" sz="2800" u="none" cap="none" strike="noStrike">
                <a:solidFill>
                  <a:schemeClr val="dk1"/>
                </a:solidFill>
                <a:latin typeface="Open Sans"/>
                <a:ea typeface="Open Sans"/>
                <a:cs typeface="Open Sans"/>
                <a:sym typeface="Open Sans"/>
              </a:rPr>
              <a:t>A finite set of </a:t>
            </a:r>
            <a:r>
              <a:rPr b="1" i="0" lang="en-IN" sz="2800" u="none" cap="none" strike="noStrike">
                <a:solidFill>
                  <a:schemeClr val="dk1"/>
                </a:solidFill>
                <a:latin typeface="Open Sans"/>
                <a:ea typeface="Open Sans"/>
                <a:cs typeface="Open Sans"/>
                <a:sym typeface="Open Sans"/>
              </a:rPr>
              <a:t>constraints</a:t>
            </a:r>
            <a:r>
              <a:rPr b="0" i="0" lang="en-IN" sz="2800" u="none" cap="none" strike="noStrike">
                <a:solidFill>
                  <a:schemeClr val="dk1"/>
                </a:solidFill>
                <a:latin typeface="Open Sans"/>
                <a:ea typeface="Open Sans"/>
                <a:cs typeface="Open Sans"/>
                <a:sym typeface="Open Sans"/>
              </a:rPr>
              <a:t> (C = {C1, C2, C3,......, Cn})</a:t>
            </a:r>
            <a:endParaRPr b="0" i="0" sz="1400" u="none" cap="none" strike="noStrike">
              <a:solidFill>
                <a:srgbClr val="000000"/>
              </a:solidFill>
              <a:latin typeface="Arial"/>
              <a:ea typeface="Arial"/>
              <a:cs typeface="Arial"/>
              <a:sym typeface="Arial"/>
            </a:endParaRPr>
          </a:p>
        </p:txBody>
      </p:sp>
      <p:sp>
        <p:nvSpPr>
          <p:cNvPr id="298" name="Google Shape;298;g377313f64b1_0_181"/>
          <p:cNvSpPr txBox="1"/>
          <p:nvPr/>
        </p:nvSpPr>
        <p:spPr>
          <a:xfrm>
            <a:off x="442913" y="4341227"/>
            <a:ext cx="10858500" cy="19395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IN" sz="2400" u="none" cap="none" strike="noStrike">
                <a:solidFill>
                  <a:schemeClr val="dk1"/>
                </a:solidFill>
                <a:latin typeface="Open Sans"/>
                <a:ea typeface="Open Sans"/>
                <a:cs typeface="Open Sans"/>
                <a:sym typeface="Open Sans"/>
              </a:rPr>
              <a:t>all these sets should be finite except for the domain set. Each variable in the variable set can have different domains.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IN" sz="2400" u="none" cap="none" strike="noStrike">
                <a:solidFill>
                  <a:schemeClr val="dk1"/>
                </a:solidFill>
                <a:latin typeface="Open Sans"/>
                <a:ea typeface="Open Sans"/>
                <a:cs typeface="Open Sans"/>
                <a:sym typeface="Open Sans"/>
              </a:rPr>
              <a:t>For example, consider the Sudoku problem again. Suppose that a row, column and block already have 3, 5 and 7 filled in. Then the domain for all the variables in that row, column and block will be {1, 2, 4, 6, 8, 9}.</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77313f64b1_0_195"/>
          <p:cNvSpPr txBox="1"/>
          <p:nvPr>
            <p:ph type="title"/>
          </p:nvPr>
        </p:nvSpPr>
        <p:spPr>
          <a:xfrm>
            <a:off x="1024128" y="585216"/>
            <a:ext cx="99057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rPr lang="en-IN"/>
              <a:t>WHY FORMULATE A PROBLEM AS A CSP?</a:t>
            </a:r>
            <a:endParaRPr/>
          </a:p>
        </p:txBody>
      </p:sp>
      <p:sp>
        <p:nvSpPr>
          <p:cNvPr id="304" name="Google Shape;304;g377313f64b1_0_195"/>
          <p:cNvSpPr txBox="1"/>
          <p:nvPr>
            <p:ph idx="1" type="body"/>
          </p:nvPr>
        </p:nvSpPr>
        <p:spPr>
          <a:xfrm>
            <a:off x="1024128" y="2084832"/>
            <a:ext cx="9720000" cy="47733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Font typeface="Noto Sans Symbols"/>
              <a:buChar char="▪"/>
            </a:pPr>
            <a:r>
              <a:rPr lang="en-IN"/>
              <a:t> CSP solvers can be faster than state-space searchers because the CSP solver can quickly eliminate large swatches of the search space.</a:t>
            </a:r>
            <a:endParaRPr/>
          </a:p>
          <a:p>
            <a:pPr indent="-91440" lvl="0" marL="91440" rtl="0" algn="l">
              <a:lnSpc>
                <a:spcPct val="90000"/>
              </a:lnSpc>
              <a:spcBef>
                <a:spcPts val="1400"/>
              </a:spcBef>
              <a:spcAft>
                <a:spcPts val="0"/>
              </a:spcAft>
              <a:buSzPts val="2200"/>
              <a:buFont typeface="Noto Sans Symbols"/>
              <a:buChar char="▪"/>
            </a:pPr>
            <a:r>
              <a:rPr lang="en-IN"/>
              <a:t>One reason is that the CSPs yield a natural representation for a wide variety of problems.</a:t>
            </a:r>
            <a:endParaRPr/>
          </a:p>
          <a:p>
            <a:pPr indent="-91440" lvl="0" marL="91440" rtl="0" algn="l">
              <a:lnSpc>
                <a:spcPct val="90000"/>
              </a:lnSpc>
              <a:spcBef>
                <a:spcPts val="1400"/>
              </a:spcBef>
              <a:spcAft>
                <a:spcPts val="0"/>
              </a:spcAft>
              <a:buSzPts val="2200"/>
              <a:buFont typeface="Noto Sans Symbols"/>
              <a:buChar char="▪"/>
            </a:pPr>
            <a:r>
              <a:rPr lang="en-IN"/>
              <a:t>With CSPs, once we find out that a partial assignment is not a solution, we can discard any further changes of that assignment.</a:t>
            </a:r>
            <a:endParaRPr/>
          </a:p>
          <a:p>
            <a:pPr indent="-91440" lvl="0" marL="91440" rtl="0" algn="l">
              <a:lnSpc>
                <a:spcPct val="90000"/>
              </a:lnSpc>
              <a:spcBef>
                <a:spcPts val="1400"/>
              </a:spcBef>
              <a:spcAft>
                <a:spcPts val="0"/>
              </a:spcAft>
              <a:buSzPts val="2200"/>
              <a:buFont typeface="Noto Sans Symbols"/>
              <a:buChar char="▪"/>
            </a:pPr>
            <a:r>
              <a:rPr lang="en-IN"/>
              <a:t>we can see why the assignment is not a solution—</a:t>
            </a:r>
            <a:endParaRPr/>
          </a:p>
          <a:p>
            <a:pPr indent="-137158" lvl="1" marL="265176" rtl="0" algn="l">
              <a:lnSpc>
                <a:spcPct val="90000"/>
              </a:lnSpc>
              <a:spcBef>
                <a:spcPts val="400"/>
              </a:spcBef>
              <a:spcAft>
                <a:spcPts val="0"/>
              </a:spcAft>
              <a:buSzPts val="2000"/>
              <a:buFont typeface="Noto Sans Symbols"/>
              <a:buChar char="▪"/>
            </a:pPr>
            <a:r>
              <a:rPr lang="en-IN" sz="2000"/>
              <a:t>we see which variables violate a constraint—</a:t>
            </a:r>
            <a:endParaRPr/>
          </a:p>
          <a:p>
            <a:pPr indent="-137158" lvl="1" marL="265176" rtl="0" algn="l">
              <a:lnSpc>
                <a:spcPct val="90000"/>
              </a:lnSpc>
              <a:spcBef>
                <a:spcPts val="600"/>
              </a:spcBef>
              <a:spcAft>
                <a:spcPts val="0"/>
              </a:spcAft>
              <a:buSzPts val="2000"/>
              <a:buFont typeface="Noto Sans Symbols"/>
              <a:buChar char="▪"/>
            </a:pPr>
            <a:r>
              <a:rPr lang="en-IN" sz="2000"/>
              <a:t>so we can focus attention on the variables that matter. </a:t>
            </a:r>
            <a:endParaRPr/>
          </a:p>
          <a:p>
            <a:pPr indent="-10158" lvl="1" marL="265176" rtl="0" algn="l">
              <a:lnSpc>
                <a:spcPct val="90000"/>
              </a:lnSpc>
              <a:spcBef>
                <a:spcPts val="600"/>
              </a:spcBef>
              <a:spcAft>
                <a:spcPts val="0"/>
              </a:spcAft>
              <a:buSzPts val="2000"/>
              <a:buFont typeface="Noto Sans Symbols"/>
              <a:buNone/>
            </a:pPr>
            <a:r>
              <a:t/>
            </a:r>
            <a:endParaRPr sz="2000"/>
          </a:p>
          <a:p>
            <a:pPr indent="0" lvl="1" marL="128016" rtl="0" algn="l">
              <a:lnSpc>
                <a:spcPct val="90000"/>
              </a:lnSpc>
              <a:spcBef>
                <a:spcPts val="600"/>
              </a:spcBef>
              <a:spcAft>
                <a:spcPts val="0"/>
              </a:spcAft>
              <a:buSzPts val="2000"/>
              <a:buNone/>
            </a:pPr>
            <a:r>
              <a:rPr lang="en-IN" sz="2000"/>
              <a:t>As a result, many problems that are intractable for regular state-space search can be solved quickly when formulated as a CSP</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77313f64b1_0_200"/>
          <p:cNvSpPr txBox="1"/>
          <p:nvPr>
            <p:ph type="title"/>
          </p:nvPr>
        </p:nvSpPr>
        <p:spPr>
          <a:xfrm>
            <a:off x="1024128" y="156591"/>
            <a:ext cx="9720000" cy="7149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Cambria"/>
              <a:buNone/>
            </a:pPr>
            <a:r>
              <a:rPr lang="en-IN"/>
              <a:t>EXAMPLE PROBLEM : MAP COLORING</a:t>
            </a:r>
            <a:endParaRPr/>
          </a:p>
        </p:txBody>
      </p:sp>
      <p:sp>
        <p:nvSpPr>
          <p:cNvPr id="310" name="Google Shape;310;g377313f64b1_0_200"/>
          <p:cNvSpPr txBox="1"/>
          <p:nvPr>
            <p:ph idx="1" type="body"/>
          </p:nvPr>
        </p:nvSpPr>
        <p:spPr>
          <a:xfrm>
            <a:off x="1024128" y="985838"/>
            <a:ext cx="9720000" cy="53235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Font typeface="Noto Sans Symbols"/>
              <a:buChar char="▪"/>
            </a:pPr>
            <a:r>
              <a:rPr lang="en-IN"/>
              <a:t>  </a:t>
            </a:r>
            <a:endParaRPr/>
          </a:p>
          <a:p>
            <a:pPr indent="0" lvl="0" marL="91440" rtl="0" algn="l">
              <a:lnSpc>
                <a:spcPct val="90000"/>
              </a:lnSpc>
              <a:spcBef>
                <a:spcPts val="1400"/>
              </a:spcBef>
              <a:spcAft>
                <a:spcPts val="0"/>
              </a:spcAft>
              <a:buSzPts val="2200"/>
              <a:buFont typeface="Noto Sans Symbols"/>
              <a:buNone/>
            </a:pPr>
            <a:r>
              <a:t/>
            </a:r>
            <a:endParaRPr/>
          </a:p>
          <a:p>
            <a:pPr indent="0" lvl="0" marL="91440" rtl="0" algn="l">
              <a:lnSpc>
                <a:spcPct val="90000"/>
              </a:lnSpc>
              <a:spcBef>
                <a:spcPts val="1400"/>
              </a:spcBef>
              <a:spcAft>
                <a:spcPts val="0"/>
              </a:spcAft>
              <a:buSzPts val="2200"/>
              <a:buFont typeface="Noto Sans Symbols"/>
              <a:buNone/>
            </a:pPr>
            <a:r>
              <a:t/>
            </a:r>
            <a:endParaRPr/>
          </a:p>
          <a:p>
            <a:pPr indent="0" lvl="0" marL="91440" rtl="0" algn="l">
              <a:lnSpc>
                <a:spcPct val="90000"/>
              </a:lnSpc>
              <a:spcBef>
                <a:spcPts val="1400"/>
              </a:spcBef>
              <a:spcAft>
                <a:spcPts val="0"/>
              </a:spcAft>
              <a:buSzPts val="2200"/>
              <a:buFont typeface="Noto Sans Symbols"/>
              <a:buNone/>
            </a:pPr>
            <a:r>
              <a:t/>
            </a:r>
            <a:endParaRPr/>
          </a:p>
          <a:p>
            <a:pPr indent="0" lvl="0" marL="91440" rtl="0" algn="l">
              <a:lnSpc>
                <a:spcPct val="90000"/>
              </a:lnSpc>
              <a:spcBef>
                <a:spcPts val="1400"/>
              </a:spcBef>
              <a:spcAft>
                <a:spcPts val="0"/>
              </a:spcAft>
              <a:buSzPts val="2200"/>
              <a:buFont typeface="Noto Sans Symbols"/>
              <a:buNone/>
            </a:pPr>
            <a:r>
              <a:t/>
            </a:r>
            <a:endParaRPr/>
          </a:p>
          <a:p>
            <a:pPr indent="0" lvl="0" marL="91440" rtl="0" algn="l">
              <a:lnSpc>
                <a:spcPct val="90000"/>
              </a:lnSpc>
              <a:spcBef>
                <a:spcPts val="1400"/>
              </a:spcBef>
              <a:spcAft>
                <a:spcPts val="0"/>
              </a:spcAft>
              <a:buSzPts val="2200"/>
              <a:buFont typeface="Noto Sans Symbols"/>
              <a:buNone/>
            </a:pPr>
            <a:r>
              <a:t/>
            </a:r>
            <a:endParaRPr/>
          </a:p>
          <a:p>
            <a:pPr indent="0" lvl="0" marL="91440" rtl="0" algn="l">
              <a:lnSpc>
                <a:spcPct val="90000"/>
              </a:lnSpc>
              <a:spcBef>
                <a:spcPts val="1400"/>
              </a:spcBef>
              <a:spcAft>
                <a:spcPts val="0"/>
              </a:spcAft>
              <a:buSzPts val="2200"/>
              <a:buFont typeface="Noto Sans Symbols"/>
              <a:buNone/>
            </a:pPr>
            <a:r>
              <a:t/>
            </a:r>
            <a:endParaRPr/>
          </a:p>
          <a:p>
            <a:pPr indent="0" lvl="0" marL="0" rtl="0" algn="l">
              <a:lnSpc>
                <a:spcPct val="90000"/>
              </a:lnSpc>
              <a:spcBef>
                <a:spcPts val="1400"/>
              </a:spcBef>
              <a:spcAft>
                <a:spcPts val="0"/>
              </a:spcAft>
              <a:buSzPts val="2200"/>
              <a:buNone/>
            </a:pPr>
            <a:r>
              <a:t/>
            </a:r>
            <a:endParaRPr/>
          </a:p>
          <a:p>
            <a:pPr indent="-91440" lvl="0" marL="91440" rtl="0" algn="l">
              <a:lnSpc>
                <a:spcPct val="90000"/>
              </a:lnSpc>
              <a:spcBef>
                <a:spcPts val="1400"/>
              </a:spcBef>
              <a:spcAft>
                <a:spcPts val="0"/>
              </a:spcAft>
              <a:buSzPts val="2200"/>
              <a:buFont typeface="Noto Sans Symbols"/>
              <a:buChar char="▪"/>
            </a:pPr>
            <a:r>
              <a:rPr lang="en-IN"/>
              <a:t>Given a map of Australia, color it using three colors such that no neighboring territories have the same color.</a:t>
            </a:r>
            <a:endParaRPr/>
          </a:p>
        </p:txBody>
      </p:sp>
      <p:pic>
        <p:nvPicPr>
          <p:cNvPr id="311" name="Google Shape;311;g377313f64b1_0_200"/>
          <p:cNvPicPr preferRelativeResize="0"/>
          <p:nvPr/>
        </p:nvPicPr>
        <p:blipFill rotWithShape="1">
          <a:blip r:embed="rId3">
            <a:alphaModFix/>
          </a:blip>
          <a:srcRect b="0" l="0" r="0" t="0"/>
          <a:stretch/>
        </p:blipFill>
        <p:spPr>
          <a:xfrm>
            <a:off x="2514600" y="1263015"/>
            <a:ext cx="5400675" cy="328041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77313f64b1_0_206"/>
          <p:cNvSpPr txBox="1"/>
          <p:nvPr>
            <p:ph idx="1" type="body"/>
          </p:nvPr>
        </p:nvSpPr>
        <p:spPr>
          <a:xfrm>
            <a:off x="1024128" y="785813"/>
            <a:ext cx="9720000" cy="55236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Char char=" "/>
            </a:pPr>
            <a:r>
              <a:rPr lang="en-IN">
                <a:latin typeface="Times New Roman"/>
                <a:ea typeface="Times New Roman"/>
                <a:cs typeface="Times New Roman"/>
                <a:sym typeface="Times New Roman"/>
              </a:rPr>
              <a:t>To formulate this as a CSP, </a:t>
            </a:r>
            <a:endParaRPr/>
          </a:p>
          <a:p>
            <a:pPr indent="-91440" lvl="0" marL="91440" rtl="0" algn="l">
              <a:lnSpc>
                <a:spcPct val="90000"/>
              </a:lnSpc>
              <a:spcBef>
                <a:spcPts val="1400"/>
              </a:spcBef>
              <a:spcAft>
                <a:spcPts val="0"/>
              </a:spcAft>
              <a:buSzPts val="2200"/>
              <a:buFont typeface="Noto Sans Symbols"/>
              <a:buChar char="▪"/>
            </a:pPr>
            <a:r>
              <a:rPr lang="en-IN">
                <a:latin typeface="Times New Roman"/>
                <a:ea typeface="Times New Roman"/>
                <a:cs typeface="Times New Roman"/>
                <a:sym typeface="Times New Roman"/>
              </a:rPr>
              <a:t>we define the variables to be the regions X = {WA, NT, Q, NSW ,V, SA, T} . </a:t>
            </a:r>
            <a:endParaRPr/>
          </a:p>
          <a:p>
            <a:pPr indent="-91440" lvl="0" marL="91440" rtl="0" algn="l">
              <a:lnSpc>
                <a:spcPct val="90000"/>
              </a:lnSpc>
              <a:spcBef>
                <a:spcPts val="1400"/>
              </a:spcBef>
              <a:spcAft>
                <a:spcPts val="0"/>
              </a:spcAft>
              <a:buSzPts val="2200"/>
              <a:buFont typeface="Noto Sans Symbols"/>
              <a:buChar char="▪"/>
            </a:pPr>
            <a:r>
              <a:rPr lang="en-IN">
                <a:latin typeface="Times New Roman"/>
                <a:ea typeface="Times New Roman"/>
                <a:cs typeface="Times New Roman"/>
                <a:sym typeface="Times New Roman"/>
              </a:rPr>
              <a:t>The domain of each variable is the set Di = {red, green, blue}. </a:t>
            </a:r>
            <a:endParaRPr/>
          </a:p>
          <a:p>
            <a:pPr indent="-91440" lvl="0" marL="91440" rtl="0" algn="l">
              <a:lnSpc>
                <a:spcPct val="90000"/>
              </a:lnSpc>
              <a:spcBef>
                <a:spcPts val="1400"/>
              </a:spcBef>
              <a:spcAft>
                <a:spcPts val="0"/>
              </a:spcAft>
              <a:buSzPts val="2200"/>
              <a:buFont typeface="Noto Sans Symbols"/>
              <a:buChar char="▪"/>
            </a:pPr>
            <a:r>
              <a:rPr lang="en-IN">
                <a:latin typeface="Times New Roman"/>
                <a:ea typeface="Times New Roman"/>
                <a:cs typeface="Times New Roman"/>
                <a:sym typeface="Times New Roman"/>
              </a:rPr>
              <a:t>The constraints require neighboring regions to have distinct colors.</a:t>
            </a:r>
            <a:endParaRPr/>
          </a:p>
          <a:p>
            <a:pPr indent="-91440" lvl="0" marL="91440" rtl="0" algn="l">
              <a:lnSpc>
                <a:spcPct val="90000"/>
              </a:lnSpc>
              <a:spcBef>
                <a:spcPts val="1400"/>
              </a:spcBef>
              <a:spcAft>
                <a:spcPts val="0"/>
              </a:spcAft>
              <a:buSzPts val="2200"/>
              <a:buFont typeface="Noto Sans Symbols"/>
              <a:buChar char="▪"/>
            </a:pPr>
            <a:r>
              <a:rPr lang="en-IN">
                <a:latin typeface="Times New Roman"/>
                <a:ea typeface="Times New Roman"/>
                <a:cs typeface="Times New Roman"/>
                <a:sym typeface="Times New Roman"/>
              </a:rPr>
              <a:t> Since there are nine places where regions border, there are nine constraints:</a:t>
            </a:r>
            <a:endParaRPr/>
          </a:p>
          <a:p>
            <a:pPr indent="-91440" lvl="0" marL="91440" rtl="0" algn="l">
              <a:lnSpc>
                <a:spcPct val="90000"/>
              </a:lnSpc>
              <a:spcBef>
                <a:spcPts val="1400"/>
              </a:spcBef>
              <a:spcAft>
                <a:spcPts val="0"/>
              </a:spcAft>
              <a:buSzPts val="2200"/>
              <a:buFont typeface="Noto Sans Symbols"/>
              <a:buChar char="▪"/>
            </a:pPr>
            <a:r>
              <a:rPr lang="en-IN">
                <a:latin typeface="Times New Roman"/>
                <a:ea typeface="Times New Roman"/>
                <a:cs typeface="Times New Roman"/>
                <a:sym typeface="Times New Roman"/>
              </a:rPr>
              <a:t> C = {SA!= WA, SA != NT, SA != Q, SA != NSW , SA != V, WA != NT, NT!= Q, Q != NSW , NSW!= V } .</a:t>
            </a:r>
            <a:endParaRPr/>
          </a:p>
          <a:p>
            <a:pPr indent="0" lvl="0" marL="91440" rtl="0" algn="l">
              <a:lnSpc>
                <a:spcPct val="90000"/>
              </a:lnSpc>
              <a:spcBef>
                <a:spcPts val="1400"/>
              </a:spcBef>
              <a:spcAft>
                <a:spcPts val="0"/>
              </a:spcAft>
              <a:buSzPts val="2200"/>
              <a:buFont typeface="Noto Sans Symbols"/>
              <a:buNone/>
            </a:pPr>
            <a:r>
              <a:t/>
            </a:r>
            <a:endParaRPr>
              <a:latin typeface="Times New Roman"/>
              <a:ea typeface="Times New Roman"/>
              <a:cs typeface="Times New Roman"/>
              <a:sym typeface="Times New Roman"/>
            </a:endParaRPr>
          </a:p>
          <a:p>
            <a:pPr indent="-91440" lvl="0" marL="91440" rtl="0" algn="l">
              <a:lnSpc>
                <a:spcPct val="90000"/>
              </a:lnSpc>
              <a:spcBef>
                <a:spcPts val="1400"/>
              </a:spcBef>
              <a:spcAft>
                <a:spcPts val="0"/>
              </a:spcAft>
              <a:buSzPts val="2200"/>
              <a:buFont typeface="Noto Sans Symbols"/>
              <a:buChar char="▪"/>
            </a:pPr>
            <a:r>
              <a:rPr b="1" i="1" lang="en-IN">
                <a:latin typeface="Times New Roman"/>
                <a:ea typeface="Times New Roman"/>
                <a:cs typeface="Times New Roman"/>
                <a:sym typeface="Times New Roman"/>
              </a:rPr>
              <a:t>There are many possible solutions to this problem, such as {WA = red, NT = green, Q = red, NSW = green, V = red, SA = blue, T = red }.</a:t>
            </a:r>
            <a:endParaRPr/>
          </a:p>
          <a:p>
            <a:pPr indent="0" lvl="0" marL="91440" rtl="0" algn="l">
              <a:lnSpc>
                <a:spcPct val="90000"/>
              </a:lnSpc>
              <a:spcBef>
                <a:spcPts val="1400"/>
              </a:spcBef>
              <a:spcAft>
                <a:spcPts val="0"/>
              </a:spcAft>
              <a:buSzPts val="2200"/>
              <a:buFont typeface="Noto Sans Symbols"/>
              <a:buNone/>
            </a:pPr>
            <a:r>
              <a:t/>
            </a:r>
            <a:endParaRPr b="1" i="1">
              <a:latin typeface="Times New Roman"/>
              <a:ea typeface="Times New Roman"/>
              <a:cs typeface="Times New Roman"/>
              <a:sym typeface="Times New Roman"/>
            </a:endParaRPr>
          </a:p>
          <a:p>
            <a:pPr indent="0" lvl="0" marL="91440" rtl="0" algn="l">
              <a:lnSpc>
                <a:spcPct val="90000"/>
              </a:lnSpc>
              <a:spcBef>
                <a:spcPts val="1400"/>
              </a:spcBef>
              <a:spcAft>
                <a:spcPts val="0"/>
              </a:spcAft>
              <a:buSzPts val="2200"/>
              <a:buNone/>
            </a:pPr>
            <a:r>
              <a:t/>
            </a:r>
            <a:endParaRPr>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77313f64b1_0_210"/>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322" name="Google Shape;322;g377313f64b1_0_210"/>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323" name="Google Shape;323;g377313f64b1_0_210"/>
          <p:cNvPicPr preferRelativeResize="0"/>
          <p:nvPr/>
        </p:nvPicPr>
        <p:blipFill>
          <a:blip r:embed="rId3">
            <a:alphaModFix/>
          </a:blip>
          <a:stretch>
            <a:fillRect/>
          </a:stretch>
        </p:blipFill>
        <p:spPr>
          <a:xfrm>
            <a:off x="1080126" y="857250"/>
            <a:ext cx="9116399" cy="5143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77313f64b1_0_216"/>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329" name="Google Shape;329;g377313f64b1_0_216"/>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330" name="Google Shape;330;g377313f64b1_0_216"/>
          <p:cNvPicPr preferRelativeResize="0"/>
          <p:nvPr/>
        </p:nvPicPr>
        <p:blipFill rotWithShape="1">
          <a:blip r:embed="rId3">
            <a:alphaModFix/>
          </a:blip>
          <a:srcRect b="0" l="2780" r="10601" t="0"/>
          <a:stretch/>
        </p:blipFill>
        <p:spPr>
          <a:xfrm>
            <a:off x="654000" y="79900"/>
            <a:ext cx="10160501" cy="6858000"/>
          </a:xfrm>
          <a:prstGeom prst="rect">
            <a:avLst/>
          </a:prstGeom>
          <a:noFill/>
          <a:ln>
            <a:noFill/>
          </a:ln>
          <a:effectLst>
            <a:outerShdw blurRad="57150" rotWithShape="0" algn="bl" dir="5400000" dist="19050">
              <a:srgbClr val="D9D2E9">
                <a:alpha val="49800"/>
              </a:srgbClr>
            </a:outerShdw>
          </a:effectLst>
        </p:spPr>
      </p:pic>
      <p:sp>
        <p:nvSpPr>
          <p:cNvPr id="331" name="Google Shape;331;g377313f64b1_0_216"/>
          <p:cNvSpPr txBox="1"/>
          <p:nvPr/>
        </p:nvSpPr>
        <p:spPr>
          <a:xfrm>
            <a:off x="520825" y="6101925"/>
            <a:ext cx="2143800" cy="66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IN" sz="2200" u="none" cap="none" strike="noStrike">
                <a:solidFill>
                  <a:schemeClr val="lt2"/>
                </a:solidFill>
                <a:highlight>
                  <a:schemeClr val="lt2"/>
                </a:highlight>
                <a:latin typeface="Cambria"/>
                <a:ea typeface="Cambria"/>
                <a:cs typeface="Cambria"/>
                <a:sym typeface="Cambria"/>
              </a:rPr>
              <a:t>aaaaaaaaaaaaaaaaaaaaaaaaaaaa</a:t>
            </a:r>
            <a:endParaRPr b="0" i="0" sz="2200" u="none" cap="none" strike="noStrike">
              <a:solidFill>
                <a:schemeClr val="lt2"/>
              </a:solidFill>
              <a:highlight>
                <a:schemeClr val="lt2"/>
              </a:highlight>
              <a:latin typeface="Cambria"/>
              <a:ea typeface="Cambria"/>
              <a:cs typeface="Cambria"/>
              <a:sym typeface="Cambria"/>
            </a:endParaRPr>
          </a:p>
        </p:txBody>
      </p:sp>
      <p:sp>
        <p:nvSpPr>
          <p:cNvPr id="332" name="Google Shape;332;g377313f64b1_0_216"/>
          <p:cNvSpPr txBox="1"/>
          <p:nvPr/>
        </p:nvSpPr>
        <p:spPr>
          <a:xfrm>
            <a:off x="1532875" y="-103575"/>
            <a:ext cx="9211200" cy="3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200">
                <a:solidFill>
                  <a:schemeClr val="dk1"/>
                </a:solidFill>
                <a:latin typeface="Cambria"/>
                <a:ea typeface="Cambria"/>
                <a:cs typeface="Cambria"/>
                <a:sym typeface="Cambria"/>
              </a:rPr>
              <a:t>Search as State Space</a:t>
            </a:r>
            <a:endParaRPr b="1" sz="2200">
              <a:solidFill>
                <a:schemeClr val="dk1"/>
              </a:solidFill>
              <a:latin typeface="Cambria"/>
              <a:ea typeface="Cambria"/>
              <a:cs typeface="Cambria"/>
              <a:sym typeface="Cambri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77313f64b1_0_186"/>
          <p:cNvSpPr txBox="1"/>
          <p:nvPr>
            <p:ph idx="1" type="body"/>
          </p:nvPr>
        </p:nvSpPr>
        <p:spPr>
          <a:xfrm>
            <a:off x="989012" y="438430"/>
            <a:ext cx="10383900" cy="52623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800"/>
              <a:buFont typeface="Arial"/>
              <a:buChar char="•"/>
            </a:pPr>
            <a:r>
              <a:rPr b="1" lang="en-IN" sz="2800">
                <a:latin typeface="Times New Roman"/>
                <a:ea typeface="Times New Roman"/>
                <a:cs typeface="Times New Roman"/>
                <a:sym typeface="Times New Roman"/>
              </a:rPr>
              <a:t>To solve a CSP, we need to define a state space and the notion of a solution.</a:t>
            </a:r>
            <a:endParaRPr/>
          </a:p>
          <a:p>
            <a:pPr indent="-91440" lvl="0" marL="91440" rtl="0" algn="l">
              <a:lnSpc>
                <a:spcPct val="90000"/>
              </a:lnSpc>
              <a:spcBef>
                <a:spcPts val="1400"/>
              </a:spcBef>
              <a:spcAft>
                <a:spcPts val="0"/>
              </a:spcAft>
              <a:buSzPts val="2800"/>
              <a:buFont typeface="Arial"/>
              <a:buChar char="•"/>
            </a:pPr>
            <a:r>
              <a:rPr lang="en-IN" sz="2800">
                <a:latin typeface="Times New Roman"/>
                <a:ea typeface="Times New Roman"/>
                <a:cs typeface="Times New Roman"/>
                <a:sym typeface="Times New Roman"/>
              </a:rPr>
              <a:t>Each state in a CSP is defined by an </a:t>
            </a:r>
            <a:r>
              <a:rPr b="1" i="1" lang="en-IN" sz="2800">
                <a:latin typeface="Times New Roman"/>
                <a:ea typeface="Times New Roman"/>
                <a:cs typeface="Times New Roman"/>
                <a:sym typeface="Times New Roman"/>
              </a:rPr>
              <a:t>assignment </a:t>
            </a:r>
            <a:r>
              <a:rPr lang="en-IN" sz="2800">
                <a:latin typeface="Times New Roman"/>
                <a:ea typeface="Times New Roman"/>
                <a:cs typeface="Times New Roman"/>
                <a:sym typeface="Times New Roman"/>
              </a:rPr>
              <a:t>of values to some or all of the variables, {Xi = vi , Xj = vj ,...}. </a:t>
            </a:r>
            <a:endParaRPr/>
          </a:p>
          <a:p>
            <a:pPr indent="-91440" lvl="0" marL="91440" rtl="0" algn="l">
              <a:lnSpc>
                <a:spcPct val="90000"/>
              </a:lnSpc>
              <a:spcBef>
                <a:spcPts val="1400"/>
              </a:spcBef>
              <a:spcAft>
                <a:spcPts val="0"/>
              </a:spcAft>
              <a:buSzPts val="2800"/>
              <a:buFont typeface="Arial"/>
              <a:buChar char="•"/>
            </a:pPr>
            <a:r>
              <a:rPr lang="en-IN" sz="2800">
                <a:latin typeface="Times New Roman"/>
                <a:ea typeface="Times New Roman"/>
                <a:cs typeface="Times New Roman"/>
                <a:sym typeface="Times New Roman"/>
              </a:rPr>
              <a:t>An assignment that does not violate any constraints is called a</a:t>
            </a:r>
            <a:r>
              <a:rPr b="1" i="1" lang="en-IN" sz="2800">
                <a:latin typeface="Times New Roman"/>
                <a:ea typeface="Times New Roman"/>
                <a:cs typeface="Times New Roman"/>
                <a:sym typeface="Times New Roman"/>
              </a:rPr>
              <a:t> consistent </a:t>
            </a:r>
            <a:r>
              <a:rPr lang="en-IN" sz="2800">
                <a:latin typeface="Times New Roman"/>
                <a:ea typeface="Times New Roman"/>
                <a:cs typeface="Times New Roman"/>
                <a:sym typeface="Times New Roman"/>
              </a:rPr>
              <a:t>or </a:t>
            </a:r>
            <a:r>
              <a:rPr b="1" i="1" lang="en-IN" sz="2800">
                <a:latin typeface="Times New Roman"/>
                <a:ea typeface="Times New Roman"/>
                <a:cs typeface="Times New Roman"/>
                <a:sym typeface="Times New Roman"/>
              </a:rPr>
              <a:t>legal assignment.</a:t>
            </a:r>
            <a:endParaRPr/>
          </a:p>
          <a:p>
            <a:pPr indent="-91440" lvl="0" marL="91440" rtl="0" algn="l">
              <a:lnSpc>
                <a:spcPct val="90000"/>
              </a:lnSpc>
              <a:spcBef>
                <a:spcPts val="1400"/>
              </a:spcBef>
              <a:spcAft>
                <a:spcPts val="0"/>
              </a:spcAft>
              <a:buSzPts val="2800"/>
              <a:buFont typeface="Arial"/>
              <a:buChar char="•"/>
            </a:pPr>
            <a:r>
              <a:rPr lang="en-IN" sz="2800">
                <a:latin typeface="Times New Roman"/>
                <a:ea typeface="Times New Roman"/>
                <a:cs typeface="Times New Roman"/>
                <a:sym typeface="Times New Roman"/>
              </a:rPr>
              <a:t> A </a:t>
            </a:r>
            <a:r>
              <a:rPr b="1" i="1" lang="en-IN" sz="2800">
                <a:latin typeface="Times New Roman"/>
                <a:ea typeface="Times New Roman"/>
                <a:cs typeface="Times New Roman"/>
                <a:sym typeface="Times New Roman"/>
              </a:rPr>
              <a:t>complete assignment </a:t>
            </a:r>
            <a:r>
              <a:rPr lang="en-IN" sz="2800">
                <a:latin typeface="Times New Roman"/>
                <a:ea typeface="Times New Roman"/>
                <a:cs typeface="Times New Roman"/>
                <a:sym typeface="Times New Roman"/>
              </a:rPr>
              <a:t>is one in which every variable is assigned, and a solution to a CSP is a consistent, complete assignment.</a:t>
            </a:r>
            <a:endParaRPr/>
          </a:p>
          <a:p>
            <a:pPr indent="-91440" lvl="0" marL="91440" rtl="0" algn="l">
              <a:lnSpc>
                <a:spcPct val="90000"/>
              </a:lnSpc>
              <a:spcBef>
                <a:spcPts val="1400"/>
              </a:spcBef>
              <a:spcAft>
                <a:spcPts val="0"/>
              </a:spcAft>
              <a:buSzPts val="2800"/>
              <a:buFont typeface="Arial"/>
              <a:buChar char="•"/>
            </a:pPr>
            <a:r>
              <a:rPr lang="en-IN" sz="2800">
                <a:latin typeface="Times New Roman"/>
                <a:ea typeface="Times New Roman"/>
                <a:cs typeface="Times New Roman"/>
                <a:sym typeface="Times New Roman"/>
              </a:rPr>
              <a:t> A </a:t>
            </a:r>
            <a:r>
              <a:rPr b="1" i="1" lang="en-IN" sz="2800">
                <a:latin typeface="Times New Roman"/>
                <a:ea typeface="Times New Roman"/>
                <a:cs typeface="Times New Roman"/>
                <a:sym typeface="Times New Roman"/>
              </a:rPr>
              <a:t>partial assignment </a:t>
            </a:r>
            <a:r>
              <a:rPr lang="en-IN" sz="2800">
                <a:latin typeface="Times New Roman"/>
                <a:ea typeface="Times New Roman"/>
                <a:cs typeface="Times New Roman"/>
                <a:sym typeface="Times New Roman"/>
              </a:rPr>
              <a:t>is one that assigns values to only some of the variables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77313f64b1_0_131"/>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343" name="Google Shape;343;g377313f64b1_0_131"/>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344" name="Google Shape;344;g377313f64b1_0_131"/>
          <p:cNvPicPr preferRelativeResize="0"/>
          <p:nvPr/>
        </p:nvPicPr>
        <p:blipFill>
          <a:blip r:embed="rId3">
            <a:alphaModFix/>
          </a:blip>
          <a:stretch>
            <a:fillRect/>
          </a:stretch>
        </p:blipFill>
        <p:spPr>
          <a:xfrm>
            <a:off x="1160025" y="881850"/>
            <a:ext cx="8979325" cy="55929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77313f64b1_0_137"/>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Precedence constraints</a:t>
            </a:r>
            <a:endParaRPr/>
          </a:p>
        </p:txBody>
      </p:sp>
      <p:sp>
        <p:nvSpPr>
          <p:cNvPr id="350" name="Google Shape;350;g377313f64b1_0_137"/>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rPr lang="en-IN" sz="3500"/>
              <a:t>Whenever a task T1 must occur before task T2, and task T1 takes duration d1 to complete, we add an arithmetic constraint of the form</a:t>
            </a:r>
            <a:endParaRPr sz="3500"/>
          </a:p>
          <a:p>
            <a:pPr indent="0" lvl="0" marL="0" rtl="0" algn="l">
              <a:spcBef>
                <a:spcPts val="1200"/>
              </a:spcBef>
              <a:spcAft>
                <a:spcPts val="0"/>
              </a:spcAft>
              <a:buNone/>
            </a:pPr>
            <a:r>
              <a:rPr lang="en-IN" sz="3500"/>
              <a:t>T1 + d1 ≤ T2</a:t>
            </a:r>
            <a:endParaRPr sz="3500"/>
          </a:p>
          <a:p>
            <a:pPr indent="0" lvl="0" marL="0" rtl="0" algn="l">
              <a:spcBef>
                <a:spcPts val="120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77313f64b1_0_142"/>
          <p:cNvSpPr txBox="1"/>
          <p:nvPr>
            <p:ph type="title"/>
          </p:nvPr>
        </p:nvSpPr>
        <p:spPr>
          <a:xfrm>
            <a:off x="1024125" y="585218"/>
            <a:ext cx="9720000" cy="309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t/>
            </a:r>
            <a:endParaRPr/>
          </a:p>
        </p:txBody>
      </p:sp>
      <p:sp>
        <p:nvSpPr>
          <p:cNvPr id="356" name="Google Shape;356;g377313f64b1_0_142"/>
          <p:cNvSpPr txBox="1"/>
          <p:nvPr>
            <p:ph idx="1" type="body"/>
          </p:nvPr>
        </p:nvSpPr>
        <p:spPr>
          <a:xfrm>
            <a:off x="1024125" y="895175"/>
            <a:ext cx="9720000" cy="2330400"/>
          </a:xfrm>
          <a:prstGeom prst="rect">
            <a:avLst/>
          </a:prstGeom>
        </p:spPr>
        <p:txBody>
          <a:bodyPr anchorCtr="0" anchor="t" bIns="45700" lIns="45700" spcFirstLastPara="1" rIns="45700" wrap="square" tIns="45700">
            <a:normAutofit lnSpcReduction="10000"/>
          </a:bodyPr>
          <a:lstStyle/>
          <a:p>
            <a:pPr indent="0" lvl="0" marL="0" rtl="0" algn="l">
              <a:spcBef>
                <a:spcPts val="1200"/>
              </a:spcBef>
              <a:spcAft>
                <a:spcPts val="0"/>
              </a:spcAft>
              <a:buNone/>
            </a:pPr>
            <a:r>
              <a:rPr lang="en-IN"/>
              <a:t>A small part of the car assembly, consisting of 15 tasks: install axles (front and back), affix all four wheels (right and left, front and back), tighten nuts for each wheel, affix hubcaps, and inspect the final assembly. We can represent the tasks with 15 variables:</a:t>
            </a:r>
            <a:endParaRPr/>
          </a:p>
          <a:p>
            <a:pPr indent="0" lvl="0" marL="0" rtl="0" algn="l">
              <a:spcBef>
                <a:spcPts val="1200"/>
              </a:spcBef>
              <a:spcAft>
                <a:spcPts val="0"/>
              </a:spcAft>
              <a:buNone/>
            </a:pPr>
            <a:r>
              <a:rPr lang="en-IN"/>
              <a:t>X = {AxleF , AxleB,Wheel RF ,Wheel LF ,WheelRB,Wheel LB, NutsRF , NutsLF , NutsRB, NutsLB, CapRF , CapLF , CapRB, CapLB,Inspect} .</a:t>
            </a:r>
            <a:endParaRPr/>
          </a:p>
          <a:p>
            <a:pPr indent="0" lvl="0" marL="0" rtl="0" algn="l">
              <a:spcBef>
                <a:spcPts val="1200"/>
              </a:spcBef>
              <a:spcAft>
                <a:spcPts val="0"/>
              </a:spcAft>
              <a:buNone/>
            </a:pPr>
            <a:r>
              <a:rPr lang="en-IN"/>
              <a:t>The value of each variable is the time that the task starts.</a:t>
            </a:r>
            <a:endParaRPr/>
          </a:p>
        </p:txBody>
      </p:sp>
      <p:pic>
        <p:nvPicPr>
          <p:cNvPr id="357" name="Google Shape;357;g377313f64b1_0_142"/>
          <p:cNvPicPr preferRelativeResize="0"/>
          <p:nvPr/>
        </p:nvPicPr>
        <p:blipFill rotWithShape="1">
          <a:blip r:embed="rId3">
            <a:alphaModFix/>
          </a:blip>
          <a:srcRect b="10312" l="9992" r="13961" t="37016"/>
          <a:stretch/>
        </p:blipFill>
        <p:spPr>
          <a:xfrm>
            <a:off x="960275" y="3025775"/>
            <a:ext cx="9783850" cy="24901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77313f64b1_0_148"/>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DISJUNCTIVE CONSTRAINT</a:t>
            </a:r>
            <a:endParaRPr/>
          </a:p>
        </p:txBody>
      </p:sp>
      <p:sp>
        <p:nvSpPr>
          <p:cNvPr id="363" name="Google Shape;363;g377313f64b1_0_148"/>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rPr lang="en-IN"/>
              <a:t>Suppose we have four workers to install wheels, but they have to share one tool that helps put the axle in place.</a:t>
            </a:r>
            <a:endParaRPr/>
          </a:p>
          <a:p>
            <a:pPr indent="0" lvl="0" marL="0" rtl="0" algn="l">
              <a:spcBef>
                <a:spcPts val="1200"/>
              </a:spcBef>
              <a:spcAft>
                <a:spcPts val="0"/>
              </a:spcAft>
              <a:buNone/>
            </a:pPr>
            <a:r>
              <a:rPr lang="en-IN"/>
              <a:t>We need a disjunctive constraint to say that AxleF and AxleB must not overlap in time; either one comes first or the other does:</a:t>
            </a:r>
            <a:endParaRPr/>
          </a:p>
          <a:p>
            <a:pPr indent="0" lvl="0" marL="0" rtl="0" algn="l">
              <a:spcBef>
                <a:spcPts val="1200"/>
              </a:spcBef>
              <a:spcAft>
                <a:spcPts val="0"/>
              </a:spcAft>
              <a:buNone/>
            </a:pPr>
            <a:r>
              <a:rPr lang="en-IN"/>
              <a:t>(AxleF + 10 ≤ AxleB) or</a:t>
            </a:r>
            <a:endParaRPr/>
          </a:p>
          <a:p>
            <a:pPr indent="0" lvl="0" marL="0" rtl="0" algn="l">
              <a:spcBef>
                <a:spcPts val="1200"/>
              </a:spcBef>
              <a:spcAft>
                <a:spcPts val="0"/>
              </a:spcAft>
              <a:buNone/>
            </a:pPr>
            <a:r>
              <a:rPr lang="en-IN"/>
              <a:t>(AxleB + 10 ≤ AxleF )</a:t>
            </a:r>
            <a:endParaRPr/>
          </a:p>
          <a:p>
            <a:pPr indent="0" lvl="0" marL="0" rtl="0" algn="l">
              <a:spcBef>
                <a:spcPts val="120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77313f64b1_0_153"/>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Constraints</a:t>
            </a:r>
            <a:endParaRPr/>
          </a:p>
        </p:txBody>
      </p:sp>
      <p:sp>
        <p:nvSpPr>
          <p:cNvPr id="369" name="Google Shape;369;g377313f64b1_0_153"/>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rPr lang="en-IN"/>
              <a:t>For every variable except Inspect we add a constraint of the form X + dX ≤ Inspect.</a:t>
            </a:r>
            <a:endParaRPr/>
          </a:p>
          <a:p>
            <a:pPr indent="0" lvl="0" marL="0" rtl="0" algn="l">
              <a:spcBef>
                <a:spcPts val="1200"/>
              </a:spcBef>
              <a:spcAft>
                <a:spcPts val="0"/>
              </a:spcAft>
              <a:buNone/>
            </a:pPr>
            <a:r>
              <a:rPr lang="en-IN"/>
              <a:t>Finally, suppose there is a requirement to get the whole assembly done in 30 minutes.</a:t>
            </a:r>
            <a:endParaRPr/>
          </a:p>
          <a:p>
            <a:pPr indent="0" lvl="0" marL="0" rtl="0" algn="l">
              <a:spcBef>
                <a:spcPts val="1200"/>
              </a:spcBef>
              <a:spcAft>
                <a:spcPts val="0"/>
              </a:spcAft>
              <a:buNone/>
            </a:pPr>
            <a:r>
              <a:rPr lang="en-IN"/>
              <a:t>We can achieve that by limiting the domain of all variables: Di = {1, 2, 3,..., 27} .</a:t>
            </a:r>
            <a:endParaRPr/>
          </a:p>
          <a:p>
            <a:pPr indent="0" lvl="0" marL="0" rtl="0" algn="l">
              <a:spcBef>
                <a:spcPts val="1200"/>
              </a:spcBef>
              <a:spcAft>
                <a:spcPts val="0"/>
              </a:spcAft>
              <a:buNone/>
            </a:pPr>
            <a:r>
              <a:rPr lang="en-IN"/>
              <a:t>This particular problem is trivial to solve, but CSPs have been applied to job-shop scheduling problems like this with thousands of variables.</a:t>
            </a:r>
            <a:endParaRPr/>
          </a:p>
          <a:p>
            <a:pPr indent="0" lvl="0" marL="0" rtl="0" algn="l">
              <a:spcBef>
                <a:spcPts val="120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77313f64b1_0_158"/>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375" name="Google Shape;375;g377313f64b1_0_158"/>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376" name="Google Shape;376;g377313f64b1_0_158"/>
          <p:cNvPicPr preferRelativeResize="0"/>
          <p:nvPr/>
        </p:nvPicPr>
        <p:blipFill>
          <a:blip r:embed="rId3">
            <a:alphaModFix/>
          </a:blip>
          <a:stretch>
            <a:fillRect/>
          </a:stretch>
        </p:blipFill>
        <p:spPr>
          <a:xfrm>
            <a:off x="976313" y="738188"/>
            <a:ext cx="10239375" cy="53816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377313f64b1_0_164"/>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382" name="Google Shape;382;g377313f64b1_0_164"/>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383" name="Google Shape;383;g377313f64b1_0_164"/>
          <p:cNvPicPr preferRelativeResize="0"/>
          <p:nvPr/>
        </p:nvPicPr>
        <p:blipFill>
          <a:blip r:embed="rId3">
            <a:alphaModFix/>
          </a:blip>
          <a:stretch>
            <a:fillRect/>
          </a:stretch>
        </p:blipFill>
        <p:spPr>
          <a:xfrm>
            <a:off x="1033463" y="804863"/>
            <a:ext cx="10125075" cy="5248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7"/>
          <p:cNvSpPr txBox="1"/>
          <p:nvPr>
            <p:ph idx="1" type="body"/>
          </p:nvPr>
        </p:nvSpPr>
        <p:spPr>
          <a:xfrm>
            <a:off x="913774" y="395418"/>
            <a:ext cx="10364452" cy="3424107"/>
          </a:xfrm>
          <a:prstGeom prst="rect">
            <a:avLst/>
          </a:prstGeom>
          <a:noFill/>
          <a:ln>
            <a:noFill/>
          </a:ln>
        </p:spPr>
        <p:txBody>
          <a:bodyPr anchorCtr="0" anchor="t" bIns="45700" lIns="45700" spcFirstLastPara="1" rIns="45700" wrap="square" tIns="45700">
            <a:noAutofit/>
          </a:bodyPr>
          <a:lstStyle/>
          <a:p>
            <a:pPr indent="-146050" lvl="0" marL="91440" rtl="0" algn="l">
              <a:lnSpc>
                <a:spcPct val="90000"/>
              </a:lnSpc>
              <a:spcBef>
                <a:spcPts val="0"/>
              </a:spcBef>
              <a:spcAft>
                <a:spcPts val="0"/>
              </a:spcAft>
              <a:buSzPts val="2300"/>
              <a:buChar char=" "/>
            </a:pPr>
            <a:r>
              <a:rPr b="0" i="0" lang="en-IN" sz="2300" cap="none">
                <a:latin typeface="Calibri"/>
                <a:ea typeface="Calibri"/>
                <a:cs typeface="Calibri"/>
                <a:sym typeface="Calibri"/>
              </a:rPr>
              <a:t>Csps can be used to solve problems such as</a:t>
            </a:r>
            <a:endParaRPr/>
          </a:p>
          <a:p>
            <a:pPr indent="-146050" lvl="0" marL="91440" rtl="0" algn="l">
              <a:lnSpc>
                <a:spcPct val="90000"/>
              </a:lnSpc>
              <a:spcBef>
                <a:spcPts val="1400"/>
              </a:spcBef>
              <a:spcAft>
                <a:spcPts val="0"/>
              </a:spcAft>
              <a:buSzPts val="2300"/>
              <a:buFont typeface="Arial"/>
              <a:buChar char="•"/>
            </a:pPr>
            <a:r>
              <a:rPr b="1" i="0" lang="en-IN" sz="2300" cap="none">
                <a:latin typeface="Calibri"/>
                <a:ea typeface="Calibri"/>
                <a:cs typeface="Calibri"/>
                <a:sym typeface="Calibri"/>
              </a:rPr>
              <a:t>Graph-coloring</a:t>
            </a:r>
            <a:r>
              <a:rPr b="0" i="0" lang="en-IN" sz="2300" cap="none">
                <a:latin typeface="Calibri"/>
                <a:ea typeface="Calibri"/>
                <a:cs typeface="Calibri"/>
                <a:sym typeface="Calibri"/>
              </a:rPr>
              <a:t>: given a graph, the a coloring of the graph means assigning each of its vertices a color such that no pair of vertices connected by an edge have the same color</a:t>
            </a:r>
            <a:endParaRPr b="0" i="0" sz="2300" cap="none">
              <a:latin typeface="Calibri"/>
              <a:ea typeface="Calibri"/>
              <a:cs typeface="Calibri"/>
              <a:sym typeface="Calibri"/>
            </a:endParaRPr>
          </a:p>
          <a:p>
            <a:pPr indent="-285750" lvl="1" marL="742950" rtl="0" algn="l">
              <a:lnSpc>
                <a:spcPct val="90000"/>
              </a:lnSpc>
              <a:spcBef>
                <a:spcPts val="400"/>
              </a:spcBef>
              <a:spcAft>
                <a:spcPts val="0"/>
              </a:spcAft>
              <a:buSzPts val="2300"/>
              <a:buFont typeface="Arial"/>
              <a:buChar char="•"/>
            </a:pPr>
            <a:r>
              <a:rPr b="0" i="0" lang="en-IN" sz="2300" cap="none">
                <a:latin typeface="Calibri"/>
                <a:ea typeface="Calibri"/>
                <a:cs typeface="Calibri"/>
                <a:sym typeface="Calibri"/>
              </a:rPr>
              <a:t>In general, this is a very hard problem, e.g. Determining if a graph can be colored with 3 colors is np-hard</a:t>
            </a:r>
            <a:endParaRPr/>
          </a:p>
          <a:p>
            <a:pPr indent="-285750" lvl="1" marL="742950" rtl="0" algn="l">
              <a:lnSpc>
                <a:spcPct val="90000"/>
              </a:lnSpc>
              <a:spcBef>
                <a:spcPts val="600"/>
              </a:spcBef>
              <a:spcAft>
                <a:spcPts val="0"/>
              </a:spcAft>
              <a:buSzPts val="2300"/>
              <a:buFont typeface="Arial"/>
              <a:buChar char="•"/>
            </a:pPr>
            <a:r>
              <a:rPr b="0" i="0" lang="en-IN" sz="2300" cap="none">
                <a:latin typeface="Calibri"/>
                <a:ea typeface="Calibri"/>
                <a:cs typeface="Calibri"/>
                <a:sym typeface="Calibri"/>
              </a:rPr>
              <a:t>Many problems boil down to graph coloring, or related problems</a:t>
            </a:r>
            <a:endParaRPr/>
          </a:p>
          <a:p>
            <a:pPr indent="-146050" lvl="0" marL="91440" rtl="0" algn="l">
              <a:lnSpc>
                <a:spcPct val="90000"/>
              </a:lnSpc>
              <a:spcBef>
                <a:spcPts val="1600"/>
              </a:spcBef>
              <a:spcAft>
                <a:spcPts val="0"/>
              </a:spcAft>
              <a:buSzPts val="2300"/>
              <a:buFont typeface="Arial"/>
              <a:buChar char="•"/>
            </a:pPr>
            <a:r>
              <a:rPr b="1" i="0" lang="en-IN" sz="2300" cap="none">
                <a:latin typeface="Calibri"/>
                <a:ea typeface="Calibri"/>
                <a:cs typeface="Calibri"/>
                <a:sym typeface="Calibri"/>
              </a:rPr>
              <a:t>Job  scheduling</a:t>
            </a:r>
            <a:r>
              <a:rPr b="0" i="0" lang="en-IN" sz="2300" cap="none">
                <a:latin typeface="Calibri"/>
                <a:ea typeface="Calibri"/>
                <a:cs typeface="Calibri"/>
                <a:sym typeface="Calibri"/>
              </a:rPr>
              <a:t>: e.</a:t>
            </a:r>
            <a:r>
              <a:rPr lang="en-IN" sz="2300" cap="none">
                <a:latin typeface="Calibri"/>
                <a:ea typeface="Calibri"/>
                <a:cs typeface="Calibri"/>
                <a:sym typeface="Calibri"/>
              </a:rPr>
              <a:t>g. </a:t>
            </a:r>
            <a:r>
              <a:rPr b="0" i="0" lang="en-IN" sz="2300" cap="none">
                <a:latin typeface="Calibri"/>
                <a:ea typeface="Calibri"/>
                <a:cs typeface="Calibri"/>
                <a:sym typeface="Calibri"/>
              </a:rPr>
              <a:t>Suppose you need to complete a set of tasks, each of which have a duration, and constraints upon when they start and stop (e.g. Task c can’t start until both task a and task b are finished)</a:t>
            </a:r>
            <a:endParaRPr/>
          </a:p>
          <a:p>
            <a:pPr indent="-285750" lvl="1" marL="742950" rtl="0" algn="l">
              <a:lnSpc>
                <a:spcPct val="90000"/>
              </a:lnSpc>
              <a:spcBef>
                <a:spcPts val="400"/>
              </a:spcBef>
              <a:spcAft>
                <a:spcPts val="0"/>
              </a:spcAft>
              <a:buSzPts val="2300"/>
              <a:buFont typeface="Arial"/>
              <a:buChar char="•"/>
            </a:pPr>
            <a:r>
              <a:rPr b="0" i="0" lang="en-IN" sz="2300" cap="none">
                <a:latin typeface="Calibri"/>
                <a:ea typeface="Calibri"/>
                <a:cs typeface="Calibri"/>
                <a:sym typeface="Calibri"/>
              </a:rPr>
              <a:t>Csps are a natural way to express such problems</a:t>
            </a:r>
            <a:endParaRPr/>
          </a:p>
          <a:p>
            <a:pPr indent="-146050" lvl="0" marL="91440" rtl="0" algn="l">
              <a:lnSpc>
                <a:spcPct val="90000"/>
              </a:lnSpc>
              <a:spcBef>
                <a:spcPts val="1600"/>
              </a:spcBef>
              <a:spcAft>
                <a:spcPts val="0"/>
              </a:spcAft>
              <a:buSzPts val="2300"/>
              <a:buFont typeface="Arial"/>
              <a:buChar char="•"/>
            </a:pPr>
            <a:r>
              <a:rPr b="1" i="0" lang="en-IN" sz="2300" cap="none">
                <a:latin typeface="Calibri"/>
                <a:ea typeface="Calibri"/>
                <a:cs typeface="Calibri"/>
                <a:sym typeface="Calibri"/>
              </a:rPr>
              <a:t>Cryptarithmetic puzzles</a:t>
            </a:r>
            <a:r>
              <a:rPr b="0" i="0" lang="en-IN" sz="2300" cap="none">
                <a:latin typeface="Calibri"/>
                <a:ea typeface="Calibri"/>
                <a:cs typeface="Calibri"/>
                <a:sym typeface="Calibri"/>
              </a:rPr>
              <a:t>: e.g. Suppose you are told that TWO + TWO = FOUR, and each of the letters corresponds to a </a:t>
            </a:r>
            <a:r>
              <a:rPr b="0" i="1" lang="en-IN" sz="2300" cap="none">
                <a:latin typeface="Calibri"/>
                <a:ea typeface="Calibri"/>
                <a:cs typeface="Calibri"/>
                <a:sym typeface="Calibri"/>
              </a:rPr>
              <a:t>different</a:t>
            </a:r>
            <a:r>
              <a:rPr b="0" i="0" lang="en-IN" sz="2300" cap="none">
                <a:latin typeface="Calibri"/>
                <a:ea typeface="Calibri"/>
                <a:cs typeface="Calibri"/>
                <a:sym typeface="Calibri"/>
              </a:rPr>
              <a:t> digit from 0 to 9, and that a number can’t start with 0 (so T and F are not 0); what, if any, are the possible values for the letters?</a:t>
            </a:r>
            <a:endParaRPr/>
          </a:p>
          <a:p>
            <a:pPr indent="-285750" lvl="1" marL="742950" rtl="0" algn="l">
              <a:lnSpc>
                <a:spcPct val="90000"/>
              </a:lnSpc>
              <a:spcBef>
                <a:spcPts val="400"/>
              </a:spcBef>
              <a:spcAft>
                <a:spcPts val="0"/>
              </a:spcAft>
              <a:buSzPts val="2300"/>
              <a:buFont typeface="Arial"/>
              <a:buChar char="•"/>
            </a:pPr>
            <a:r>
              <a:rPr b="0" i="0" lang="en-IN" sz="2300" cap="none">
                <a:latin typeface="Calibri"/>
                <a:ea typeface="Calibri"/>
                <a:cs typeface="Calibri"/>
                <a:sym typeface="Calibri"/>
              </a:rPr>
              <a:t>While these are not directly useful problems, they are a simple test case for csp solvers</a:t>
            </a:r>
            <a:endParaRPr/>
          </a:p>
          <a:p>
            <a:pPr indent="0" lvl="0" marL="91440" rtl="0" algn="l">
              <a:lnSpc>
                <a:spcPct val="90000"/>
              </a:lnSpc>
              <a:spcBef>
                <a:spcPts val="1600"/>
              </a:spcBef>
              <a:spcAft>
                <a:spcPts val="0"/>
              </a:spcAft>
              <a:buSzPts val="2300"/>
              <a:buNone/>
            </a:pPr>
            <a:r>
              <a:t/>
            </a:r>
            <a:endParaRPr sz="2300" cap="none">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0"/>
          <p:cNvSpPr txBox="1"/>
          <p:nvPr/>
        </p:nvSpPr>
        <p:spPr>
          <a:xfrm>
            <a:off x="852487" y="193239"/>
            <a:ext cx="10487100" cy="711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Times New Roman"/>
                <a:ea typeface="Times New Roman"/>
                <a:cs typeface="Times New Roman"/>
                <a:sym typeface="Times New Roman"/>
              </a:rPr>
              <a:t>Types of Domains in CSP</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Times New Roman"/>
                <a:ea typeface="Times New Roman"/>
                <a:cs typeface="Times New Roman"/>
                <a:sym typeface="Times New Roman"/>
              </a:rPr>
              <a:t>There are following two types of domains which are used by the variables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Times New Roman"/>
                <a:ea typeface="Times New Roman"/>
                <a:cs typeface="Times New Roman"/>
                <a:sym typeface="Times New Roman"/>
              </a:rPr>
              <a:t>Discrete Domain:</a:t>
            </a:r>
            <a:r>
              <a:rPr b="0" i="0" lang="en-IN" sz="2400" u="none" cap="none" strike="noStrike">
                <a:solidFill>
                  <a:schemeClr val="dk1"/>
                </a:solidFill>
                <a:latin typeface="Times New Roman"/>
                <a:ea typeface="Times New Roman"/>
                <a:cs typeface="Times New Roman"/>
                <a:sym typeface="Times New Roman"/>
              </a:rPr>
              <a:t> It is an infinite domain which can have one state for multiple variables. </a:t>
            </a:r>
            <a:r>
              <a:rPr b="1" i="0" lang="en-IN" sz="2400" u="none" cap="none" strike="noStrike">
                <a:solidFill>
                  <a:schemeClr val="dk1"/>
                </a:solidFill>
                <a:latin typeface="Times New Roman"/>
                <a:ea typeface="Times New Roman"/>
                <a:cs typeface="Times New Roman"/>
                <a:sym typeface="Times New Roman"/>
              </a:rPr>
              <a:t>For example,</a:t>
            </a:r>
            <a:r>
              <a:rPr b="0" i="0" lang="en-IN" sz="2400" u="none" cap="none" strike="noStrike">
                <a:solidFill>
                  <a:schemeClr val="dk1"/>
                </a:solidFill>
                <a:latin typeface="Times New Roman"/>
                <a:ea typeface="Times New Roman"/>
                <a:cs typeface="Times New Roman"/>
                <a:sym typeface="Times New Roman"/>
              </a:rPr>
              <a:t> a start state can be allocated infinite times for each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Times New Roman"/>
                <a:ea typeface="Times New Roman"/>
                <a:cs typeface="Times New Roman"/>
                <a:sym typeface="Times New Roman"/>
              </a:rPr>
              <a:t>Finite Domain:</a:t>
            </a:r>
            <a:r>
              <a:rPr b="0" i="0" lang="en-IN" sz="2400" u="none" cap="none" strike="noStrike">
                <a:solidFill>
                  <a:schemeClr val="dk1"/>
                </a:solidFill>
                <a:latin typeface="Times New Roman"/>
                <a:ea typeface="Times New Roman"/>
                <a:cs typeface="Times New Roman"/>
                <a:sym typeface="Times New Roman"/>
              </a:rPr>
              <a:t> It is a finite domain which can have continuous states describing one domain for one specific variable. It is also called a continuous domain.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rPr lang="en-IN" sz="2400">
                <a:solidFill>
                  <a:schemeClr val="dk1"/>
                </a:solidFill>
                <a:latin typeface="Times New Roman"/>
                <a:ea typeface="Times New Roman"/>
                <a:cs typeface="Times New Roman"/>
                <a:sym typeface="Times New Roman"/>
              </a:rPr>
              <a:t>Eg. Map coloring, 8 Queens Pbm have Discrete, Finite domains</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Arial"/>
              <a:buNone/>
            </a:pPr>
            <a:r>
              <a:rPr lang="en-IN" sz="2400">
                <a:solidFill>
                  <a:schemeClr val="dk1"/>
                </a:solidFill>
                <a:latin typeface="Times New Roman"/>
                <a:ea typeface="Times New Roman"/>
                <a:cs typeface="Times New Roman"/>
                <a:sym typeface="Times New Roman"/>
              </a:rPr>
              <a:t>Infinite domains are set of integers or strings</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Times New Roman"/>
                <a:ea typeface="Times New Roman"/>
                <a:cs typeface="Times New Roman"/>
                <a:sym typeface="Times New Roman"/>
              </a:rPr>
              <a:t>Constraint Types in CSP</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chemeClr val="dk1"/>
                </a:solidFill>
                <a:latin typeface="Times New Roman"/>
                <a:ea typeface="Times New Roman"/>
                <a:cs typeface="Times New Roman"/>
                <a:sym typeface="Times New Roman"/>
              </a:rPr>
              <a:t>With respect to the variables, basically there are following types of constraints: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Times New Roman"/>
                <a:ea typeface="Times New Roman"/>
                <a:cs typeface="Times New Roman"/>
                <a:sym typeface="Times New Roman"/>
              </a:rPr>
              <a:t>Unary Constraints:</a:t>
            </a:r>
            <a:r>
              <a:rPr b="0" i="0" lang="en-IN" sz="2400" u="none" cap="none" strike="noStrike">
                <a:solidFill>
                  <a:schemeClr val="dk1"/>
                </a:solidFill>
                <a:latin typeface="Times New Roman"/>
                <a:ea typeface="Times New Roman"/>
                <a:cs typeface="Times New Roman"/>
                <a:sym typeface="Times New Roman"/>
              </a:rPr>
              <a:t> It is the simplest type of constraints that restricts the value of a single variable.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Times New Roman"/>
                <a:ea typeface="Times New Roman"/>
                <a:cs typeface="Times New Roman"/>
                <a:sym typeface="Times New Roman"/>
              </a:rPr>
              <a:t>Binary Constraints:</a:t>
            </a:r>
            <a:r>
              <a:rPr b="0" i="0" lang="en-IN" sz="2400" u="none" cap="none" strike="noStrike">
                <a:solidFill>
                  <a:schemeClr val="dk1"/>
                </a:solidFill>
                <a:latin typeface="Times New Roman"/>
                <a:ea typeface="Times New Roman"/>
                <a:cs typeface="Times New Roman"/>
                <a:sym typeface="Times New Roman"/>
              </a:rPr>
              <a:t> It is the constraint type which relates two variables. A value </a:t>
            </a:r>
            <a:r>
              <a:rPr b="1" i="0" lang="en-IN" sz="2400" u="none" cap="none" strike="noStrike">
                <a:solidFill>
                  <a:schemeClr val="dk1"/>
                </a:solidFill>
                <a:latin typeface="Times New Roman"/>
                <a:ea typeface="Times New Roman"/>
                <a:cs typeface="Times New Roman"/>
                <a:sym typeface="Times New Roman"/>
              </a:rPr>
              <a:t>x</a:t>
            </a:r>
            <a:r>
              <a:rPr b="1" baseline="-25000" i="0" lang="en-IN" sz="2400" u="none" cap="none" strike="noStrike">
                <a:solidFill>
                  <a:schemeClr val="dk1"/>
                </a:solidFill>
                <a:latin typeface="Times New Roman"/>
                <a:ea typeface="Times New Roman"/>
                <a:cs typeface="Times New Roman"/>
                <a:sym typeface="Times New Roman"/>
              </a:rPr>
              <a:t>2</a:t>
            </a:r>
            <a:r>
              <a:rPr b="0" i="0" lang="en-IN" sz="2400" u="none" cap="none" strike="noStrike">
                <a:solidFill>
                  <a:schemeClr val="dk1"/>
                </a:solidFill>
                <a:latin typeface="Times New Roman"/>
                <a:ea typeface="Times New Roman"/>
                <a:cs typeface="Times New Roman"/>
                <a:sym typeface="Times New Roman"/>
              </a:rPr>
              <a:t> will contain a value which lies between </a:t>
            </a:r>
            <a:r>
              <a:rPr b="1" i="0" lang="en-IN" sz="2400" u="none" cap="none" strike="noStrike">
                <a:solidFill>
                  <a:schemeClr val="dk1"/>
                </a:solidFill>
                <a:latin typeface="Times New Roman"/>
                <a:ea typeface="Times New Roman"/>
                <a:cs typeface="Times New Roman"/>
                <a:sym typeface="Times New Roman"/>
              </a:rPr>
              <a:t>x1</a:t>
            </a:r>
            <a:r>
              <a:rPr b="0" i="0" lang="en-IN" sz="2400" u="none" cap="none" strike="noStrike">
                <a:solidFill>
                  <a:schemeClr val="dk1"/>
                </a:solidFill>
                <a:latin typeface="Times New Roman"/>
                <a:ea typeface="Times New Roman"/>
                <a:cs typeface="Times New Roman"/>
                <a:sym typeface="Times New Roman"/>
              </a:rPr>
              <a:t> and </a:t>
            </a:r>
            <a:r>
              <a:rPr b="1" i="0" lang="en-IN" sz="2400" u="none" cap="none" strike="noStrike">
                <a:solidFill>
                  <a:schemeClr val="dk1"/>
                </a:solidFill>
                <a:latin typeface="Times New Roman"/>
                <a:ea typeface="Times New Roman"/>
                <a:cs typeface="Times New Roman"/>
                <a:sym typeface="Times New Roman"/>
              </a:rPr>
              <a:t>x3</a:t>
            </a:r>
            <a:r>
              <a:rPr b="0" i="0" lang="en-IN"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Times New Roman"/>
                <a:ea typeface="Times New Roman"/>
                <a:cs typeface="Times New Roman"/>
                <a:sym typeface="Times New Roman"/>
              </a:rPr>
              <a:t>Global Constraints:</a:t>
            </a:r>
            <a:r>
              <a:rPr b="0" i="0" lang="en-IN" sz="2400" u="none" cap="none" strike="noStrike">
                <a:solidFill>
                  <a:schemeClr val="dk1"/>
                </a:solidFill>
                <a:latin typeface="Times New Roman"/>
                <a:ea typeface="Times New Roman"/>
                <a:cs typeface="Times New Roman"/>
                <a:sym typeface="Times New Roman"/>
              </a:rPr>
              <a:t> It is the constraint type which involves an arbitrary number of variables. Eg. </a:t>
            </a:r>
            <a:r>
              <a:rPr b="0" i="1" lang="en-IN" sz="2400" u="none" cap="none" strike="noStrike">
                <a:solidFill>
                  <a:schemeClr val="dk1"/>
                </a:solidFill>
                <a:latin typeface="Times New Roman"/>
                <a:ea typeface="Times New Roman"/>
                <a:cs typeface="Times New Roman"/>
                <a:sym typeface="Times New Roman"/>
              </a:rPr>
              <a:t>Alldiff</a:t>
            </a:r>
            <a:r>
              <a:rPr i="1" lang="en-IN" sz="2400">
                <a:solidFill>
                  <a:schemeClr val="dk1"/>
                </a:solidFill>
                <a:latin typeface="Times New Roman"/>
                <a:ea typeface="Times New Roman"/>
                <a:cs typeface="Times New Roman"/>
                <a:sym typeface="Times New Roman"/>
              </a:rPr>
              <a:t> </a:t>
            </a:r>
            <a:r>
              <a:rPr lang="en-IN" sz="2400">
                <a:solidFill>
                  <a:schemeClr val="dk1"/>
                </a:solidFill>
                <a:latin typeface="Times New Roman"/>
                <a:ea typeface="Times New Roman"/>
                <a:cs typeface="Times New Roman"/>
                <a:sym typeface="Times New Roman"/>
              </a:rPr>
              <a:t> in Cryptarithmetic pbm</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Char char=" "/>
            </a:pPr>
            <a:r>
              <a:rPr b="1" i="0" lang="en-IN">
                <a:latin typeface="Quicksand"/>
                <a:ea typeface="Quicksand"/>
                <a:cs typeface="Quicksand"/>
                <a:sym typeface="Quicksand"/>
              </a:rPr>
              <a:t>Some special types of solution algorithms are used to solve the following types of constraints:</a:t>
            </a:r>
            <a:endParaRPr b="0" i="0">
              <a:latin typeface="Quicksand"/>
              <a:ea typeface="Quicksand"/>
              <a:cs typeface="Quicksand"/>
              <a:sym typeface="Quicksand"/>
            </a:endParaRPr>
          </a:p>
          <a:p>
            <a:pPr indent="-91440" lvl="0" marL="91440" rtl="0" algn="l">
              <a:lnSpc>
                <a:spcPct val="90000"/>
              </a:lnSpc>
              <a:spcBef>
                <a:spcPts val="1400"/>
              </a:spcBef>
              <a:spcAft>
                <a:spcPts val="0"/>
              </a:spcAft>
              <a:buSzPts val="2200"/>
              <a:buFont typeface="Arial"/>
              <a:buChar char="•"/>
            </a:pPr>
            <a:r>
              <a:rPr b="1" i="0" lang="en-IN">
                <a:latin typeface="Quicksand"/>
                <a:ea typeface="Quicksand"/>
                <a:cs typeface="Quicksand"/>
                <a:sym typeface="Quicksand"/>
              </a:rPr>
              <a:t>Linear Constraints:</a:t>
            </a:r>
            <a:r>
              <a:rPr b="0" i="0" lang="en-IN">
                <a:latin typeface="Quicksand"/>
                <a:ea typeface="Quicksand"/>
                <a:cs typeface="Quicksand"/>
                <a:sym typeface="Quicksand"/>
              </a:rPr>
              <a:t> These type of constraints are commonly used in linear programming where each variable containing an integer value exists in linear form only.</a:t>
            </a:r>
            <a:endParaRPr/>
          </a:p>
          <a:p>
            <a:pPr indent="-91440" lvl="0" marL="91440" rtl="0" algn="l">
              <a:lnSpc>
                <a:spcPct val="90000"/>
              </a:lnSpc>
              <a:spcBef>
                <a:spcPts val="1400"/>
              </a:spcBef>
              <a:spcAft>
                <a:spcPts val="0"/>
              </a:spcAft>
              <a:buSzPts val="2200"/>
              <a:buFont typeface="Arial"/>
              <a:buChar char="•"/>
            </a:pPr>
            <a:r>
              <a:rPr b="1" i="0" lang="en-IN">
                <a:latin typeface="Quicksand"/>
                <a:ea typeface="Quicksand"/>
                <a:cs typeface="Quicksand"/>
                <a:sym typeface="Quicksand"/>
              </a:rPr>
              <a:t>Non-linear Constraints:</a:t>
            </a:r>
            <a:r>
              <a:rPr b="0" i="0" lang="en-IN">
                <a:latin typeface="Quicksand"/>
                <a:ea typeface="Quicksand"/>
                <a:cs typeface="Quicksand"/>
                <a:sym typeface="Quicksand"/>
              </a:rPr>
              <a:t> These type of constraints are used in non-linear programming where each variable (an integer value) exists in a non-linear form.</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77313f64b1_0_115"/>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04" name="Google Shape;404;g377313f64b1_0_115"/>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05" name="Google Shape;405;g377313f64b1_0_115"/>
          <p:cNvPicPr preferRelativeResize="0"/>
          <p:nvPr/>
        </p:nvPicPr>
        <p:blipFill>
          <a:blip r:embed="rId3">
            <a:alphaModFix/>
          </a:blip>
          <a:stretch>
            <a:fillRect/>
          </a:stretch>
        </p:blipFill>
        <p:spPr>
          <a:xfrm>
            <a:off x="1733550" y="1133475"/>
            <a:ext cx="8724900" cy="45910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77313f64b1_0_225"/>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11" name="Google Shape;411;g377313f64b1_0_225"/>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12" name="Google Shape;412;g377313f64b1_0_225"/>
          <p:cNvPicPr preferRelativeResize="0"/>
          <p:nvPr/>
        </p:nvPicPr>
        <p:blipFill>
          <a:blip r:embed="rId3">
            <a:alphaModFix/>
          </a:blip>
          <a:stretch>
            <a:fillRect/>
          </a:stretch>
        </p:blipFill>
        <p:spPr>
          <a:xfrm>
            <a:off x="295500" y="685800"/>
            <a:ext cx="9720001" cy="5486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77313f64b1_0_231"/>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18" name="Google Shape;418;g377313f64b1_0_231"/>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19" name="Google Shape;419;g377313f64b1_0_231"/>
          <p:cNvPicPr preferRelativeResize="0"/>
          <p:nvPr/>
        </p:nvPicPr>
        <p:blipFill>
          <a:blip r:embed="rId3">
            <a:alphaModFix/>
          </a:blip>
          <a:stretch>
            <a:fillRect/>
          </a:stretch>
        </p:blipFill>
        <p:spPr>
          <a:xfrm>
            <a:off x="771525" y="1076325"/>
            <a:ext cx="10648950" cy="47053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77313f64b1_0_237"/>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25" name="Google Shape;425;g377313f64b1_0_237"/>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26" name="Google Shape;426;g377313f64b1_0_237"/>
          <p:cNvPicPr preferRelativeResize="0"/>
          <p:nvPr/>
        </p:nvPicPr>
        <p:blipFill>
          <a:blip r:embed="rId3">
            <a:alphaModFix/>
          </a:blip>
          <a:stretch>
            <a:fillRect/>
          </a:stretch>
        </p:blipFill>
        <p:spPr>
          <a:xfrm>
            <a:off x="419100" y="890588"/>
            <a:ext cx="11353800" cy="50768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77313f64b1_0_243"/>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32" name="Google Shape;432;g377313f64b1_0_243"/>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33" name="Google Shape;433;g377313f64b1_0_243"/>
          <p:cNvPicPr preferRelativeResize="0"/>
          <p:nvPr/>
        </p:nvPicPr>
        <p:blipFill>
          <a:blip r:embed="rId3">
            <a:alphaModFix/>
          </a:blip>
          <a:stretch>
            <a:fillRect/>
          </a:stretch>
        </p:blipFill>
        <p:spPr>
          <a:xfrm>
            <a:off x="1176350" y="935125"/>
            <a:ext cx="9839325" cy="51268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77313f64b1_0_249"/>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39" name="Google Shape;439;g377313f64b1_0_249"/>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40" name="Google Shape;440;g377313f64b1_0_249"/>
          <p:cNvPicPr preferRelativeResize="0"/>
          <p:nvPr/>
        </p:nvPicPr>
        <p:blipFill>
          <a:blip r:embed="rId3">
            <a:alphaModFix/>
          </a:blip>
          <a:stretch>
            <a:fillRect/>
          </a:stretch>
        </p:blipFill>
        <p:spPr>
          <a:xfrm>
            <a:off x="1071575" y="828575"/>
            <a:ext cx="10048875" cy="52733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77313f64b1_0_255"/>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46" name="Google Shape;446;g377313f64b1_0_255"/>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47" name="Google Shape;447;g377313f64b1_0_255"/>
          <p:cNvPicPr preferRelativeResize="0"/>
          <p:nvPr/>
        </p:nvPicPr>
        <p:blipFill>
          <a:blip r:embed="rId3">
            <a:alphaModFix/>
          </a:blip>
          <a:stretch>
            <a:fillRect/>
          </a:stretch>
        </p:blipFill>
        <p:spPr>
          <a:xfrm>
            <a:off x="1047750" y="948425"/>
            <a:ext cx="10096500" cy="43951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77313f64b1_0_261"/>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53" name="Google Shape;453;g377313f64b1_0_261"/>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54" name="Google Shape;454;g377313f64b1_0_261"/>
          <p:cNvPicPr preferRelativeResize="0"/>
          <p:nvPr/>
        </p:nvPicPr>
        <p:blipFill>
          <a:blip r:embed="rId3">
            <a:alphaModFix/>
          </a:blip>
          <a:stretch>
            <a:fillRect/>
          </a:stretch>
        </p:blipFill>
        <p:spPr>
          <a:xfrm>
            <a:off x="785813" y="704850"/>
            <a:ext cx="10620375" cy="54483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377313f64b1_0_267"/>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60" name="Google Shape;460;g377313f64b1_0_267"/>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61" name="Google Shape;461;g377313f64b1_0_267"/>
          <p:cNvPicPr preferRelativeResize="0"/>
          <p:nvPr/>
        </p:nvPicPr>
        <p:blipFill>
          <a:blip r:embed="rId3">
            <a:alphaModFix/>
          </a:blip>
          <a:stretch>
            <a:fillRect/>
          </a:stretch>
        </p:blipFill>
        <p:spPr>
          <a:xfrm>
            <a:off x="390525" y="590550"/>
            <a:ext cx="11410950" cy="56769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77313f64b1_0_273"/>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67" name="Google Shape;467;g377313f64b1_0_273"/>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68" name="Google Shape;468;g377313f64b1_0_273"/>
          <p:cNvPicPr preferRelativeResize="0"/>
          <p:nvPr/>
        </p:nvPicPr>
        <p:blipFill>
          <a:blip r:embed="rId3">
            <a:alphaModFix/>
          </a:blip>
          <a:stretch>
            <a:fillRect/>
          </a:stretch>
        </p:blipFill>
        <p:spPr>
          <a:xfrm>
            <a:off x="519113" y="461963"/>
            <a:ext cx="11153775" cy="59340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77313f64b1_0_279"/>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74" name="Google Shape;474;g377313f64b1_0_279"/>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75" name="Google Shape;475;g377313f64b1_0_279"/>
          <p:cNvPicPr preferRelativeResize="0"/>
          <p:nvPr/>
        </p:nvPicPr>
        <p:blipFill>
          <a:blip r:embed="rId3">
            <a:alphaModFix/>
          </a:blip>
          <a:stretch>
            <a:fillRect/>
          </a:stretch>
        </p:blipFill>
        <p:spPr>
          <a:xfrm>
            <a:off x="509588" y="704850"/>
            <a:ext cx="11172825" cy="54483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77313f64b1_0_285"/>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81" name="Google Shape;481;g377313f64b1_0_285"/>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82" name="Google Shape;482;g377313f64b1_0_285"/>
          <p:cNvPicPr preferRelativeResize="0"/>
          <p:nvPr/>
        </p:nvPicPr>
        <p:blipFill>
          <a:blip r:embed="rId3">
            <a:alphaModFix/>
          </a:blip>
          <a:stretch>
            <a:fillRect/>
          </a:stretch>
        </p:blipFill>
        <p:spPr>
          <a:xfrm>
            <a:off x="433388" y="581025"/>
            <a:ext cx="11325225" cy="56959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77313f64b1_0_291"/>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88" name="Google Shape;488;g377313f64b1_0_291"/>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489" name="Google Shape;489;g377313f64b1_0_291"/>
          <p:cNvPicPr preferRelativeResize="0"/>
          <p:nvPr/>
        </p:nvPicPr>
        <p:blipFill>
          <a:blip r:embed="rId3">
            <a:alphaModFix/>
          </a:blip>
          <a:stretch>
            <a:fillRect/>
          </a:stretch>
        </p:blipFill>
        <p:spPr>
          <a:xfrm>
            <a:off x="533400" y="600075"/>
            <a:ext cx="11125200" cy="52006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77313f64b1_0_22"/>
          <p:cNvSpPr txBox="1"/>
          <p:nvPr>
            <p:ph type="title"/>
          </p:nvPr>
        </p:nvSpPr>
        <p:spPr>
          <a:xfrm>
            <a:off x="1024128" y="128016"/>
            <a:ext cx="9720000" cy="8292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rPr lang="en-IN"/>
              <a:t>CONSTRAINT PROPAGATION</a:t>
            </a:r>
            <a:endParaRPr/>
          </a:p>
        </p:txBody>
      </p:sp>
      <p:sp>
        <p:nvSpPr>
          <p:cNvPr id="495" name="Google Shape;495;g377313f64b1_0_22"/>
          <p:cNvSpPr txBox="1"/>
          <p:nvPr>
            <p:ph idx="1" type="body"/>
          </p:nvPr>
        </p:nvSpPr>
        <p:spPr>
          <a:xfrm>
            <a:off x="1024128" y="1085850"/>
            <a:ext cx="10405800" cy="5223600"/>
          </a:xfrm>
          <a:prstGeom prst="rect">
            <a:avLst/>
          </a:prstGeom>
          <a:noFill/>
          <a:ln>
            <a:noFill/>
          </a:ln>
        </p:spPr>
        <p:txBody>
          <a:bodyPr anchorCtr="0" anchor="t" bIns="45700" lIns="45700" spcFirstLastPara="1" rIns="45700" wrap="square" tIns="45700">
            <a:noAutofit/>
          </a:bodyPr>
          <a:lstStyle/>
          <a:p>
            <a:pPr indent="-91440" lvl="0" marL="91440" rtl="0" algn="l">
              <a:lnSpc>
                <a:spcPct val="90000"/>
              </a:lnSpc>
              <a:spcBef>
                <a:spcPts val="0"/>
              </a:spcBef>
              <a:spcAft>
                <a:spcPts val="0"/>
              </a:spcAft>
              <a:buSzPts val="2400"/>
              <a:buFont typeface="Noto Sans Symbols"/>
              <a:buChar char="❖"/>
            </a:pPr>
            <a:r>
              <a:rPr b="0" i="0" lang="en-IN" sz="2400"/>
              <a:t>In local state-spaces, the choice is only one, i.e., to search for a solution. But in CSP, we have two choices either:</a:t>
            </a:r>
            <a:endParaRPr/>
          </a:p>
          <a:p>
            <a:pPr indent="-91440" lvl="0" marL="91440" rtl="0" algn="l">
              <a:lnSpc>
                <a:spcPct val="90000"/>
              </a:lnSpc>
              <a:spcBef>
                <a:spcPts val="1400"/>
              </a:spcBef>
              <a:spcAft>
                <a:spcPts val="0"/>
              </a:spcAft>
              <a:buSzPts val="2400"/>
              <a:buFont typeface="Noto Sans Symbols"/>
              <a:buChar char="❖"/>
            </a:pPr>
            <a:r>
              <a:rPr b="0" i="0" lang="en-IN" sz="2400"/>
              <a:t>We can search for a solution or</a:t>
            </a:r>
            <a:endParaRPr/>
          </a:p>
          <a:p>
            <a:pPr indent="-91440" lvl="0" marL="91440" rtl="0" algn="l">
              <a:lnSpc>
                <a:spcPct val="90000"/>
              </a:lnSpc>
              <a:spcBef>
                <a:spcPts val="1400"/>
              </a:spcBef>
              <a:spcAft>
                <a:spcPts val="0"/>
              </a:spcAft>
              <a:buSzPts val="2400"/>
              <a:buFont typeface="Noto Sans Symbols"/>
              <a:buChar char="❖"/>
            </a:pPr>
            <a:r>
              <a:rPr b="0" i="0" lang="en-IN" sz="2400"/>
              <a:t>We can perform a special type of inference called </a:t>
            </a:r>
            <a:r>
              <a:rPr b="1" i="0" lang="en-IN" sz="2400"/>
              <a:t>constraint propagation</a:t>
            </a:r>
            <a:r>
              <a:rPr b="0" i="0" lang="en-IN" sz="2400"/>
              <a:t>.</a:t>
            </a:r>
            <a:endParaRPr/>
          </a:p>
          <a:p>
            <a:pPr indent="-91440" lvl="0" marL="91440" rtl="0" algn="l">
              <a:lnSpc>
                <a:spcPct val="90000"/>
              </a:lnSpc>
              <a:spcBef>
                <a:spcPts val="1400"/>
              </a:spcBef>
              <a:spcAft>
                <a:spcPts val="0"/>
              </a:spcAft>
              <a:buSzPts val="2400"/>
              <a:buFont typeface="Noto Sans Symbols"/>
              <a:buChar char="❖"/>
            </a:pPr>
            <a:r>
              <a:rPr b="0" i="1" lang="en-IN" sz="2400"/>
              <a:t>Constraint propagation is a special type of inference which helps in reducing the legal number of values for the variables. </a:t>
            </a:r>
            <a:endParaRPr/>
          </a:p>
          <a:p>
            <a:pPr indent="-91440" lvl="0" marL="91440" rtl="0" algn="l">
              <a:lnSpc>
                <a:spcPct val="90000"/>
              </a:lnSpc>
              <a:spcBef>
                <a:spcPts val="1400"/>
              </a:spcBef>
              <a:spcAft>
                <a:spcPts val="0"/>
              </a:spcAft>
              <a:buSzPts val="2400"/>
              <a:buFont typeface="Noto Sans Symbols"/>
              <a:buChar char="❖"/>
            </a:pPr>
            <a:r>
              <a:rPr b="0" i="0" lang="en-IN" sz="2400"/>
              <a:t>The idea behind constraint propagation is </a:t>
            </a:r>
            <a:r>
              <a:rPr b="1" i="0" lang="en-IN" sz="2400"/>
              <a:t>local consistency.</a:t>
            </a:r>
            <a:endParaRPr/>
          </a:p>
          <a:p>
            <a:pPr indent="-91440" lvl="0" marL="91440" rtl="0" algn="l">
              <a:lnSpc>
                <a:spcPct val="90000"/>
              </a:lnSpc>
              <a:spcBef>
                <a:spcPts val="1400"/>
              </a:spcBef>
              <a:spcAft>
                <a:spcPts val="0"/>
              </a:spcAft>
              <a:buSzPts val="2400"/>
              <a:buFont typeface="Noto Sans Symbols"/>
              <a:buChar char="❖"/>
            </a:pPr>
            <a:r>
              <a:rPr lang="en-IN" sz="2400"/>
              <a:t>The process of enforcing local consistency in each part of the graph causes inconsistent values to be eliminated throughout the graph.</a:t>
            </a:r>
            <a:endParaRPr b="0" i="0" sz="2800"/>
          </a:p>
          <a:p>
            <a:pPr indent="0" lvl="0" marL="91440" rtl="0" algn="l">
              <a:lnSpc>
                <a:spcPct val="90000"/>
              </a:lnSpc>
              <a:spcBef>
                <a:spcPts val="1400"/>
              </a:spcBef>
              <a:spcAft>
                <a:spcPts val="0"/>
              </a:spcAft>
              <a:buSzPts val="2400"/>
              <a:buFont typeface="Noto Sans Symbols"/>
              <a:buNone/>
            </a:pPr>
            <a:r>
              <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77313f64b1_0_27"/>
          <p:cNvSpPr txBox="1"/>
          <p:nvPr>
            <p:ph idx="1" type="body"/>
          </p:nvPr>
        </p:nvSpPr>
        <p:spPr>
          <a:xfrm>
            <a:off x="1024128" y="557213"/>
            <a:ext cx="9720000" cy="57522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Font typeface="Noto Sans Symbols"/>
              <a:buChar char="▪"/>
            </a:pPr>
            <a:r>
              <a:rPr lang="en-IN">
                <a:latin typeface="Times New Roman"/>
                <a:ea typeface="Times New Roman"/>
                <a:cs typeface="Times New Roman"/>
                <a:sym typeface="Times New Roman"/>
              </a:rPr>
              <a:t>It can be helpful to visualize a CSP as a </a:t>
            </a:r>
            <a:r>
              <a:rPr b="1" i="1" lang="en-IN" u="sng">
                <a:latin typeface="Times New Roman"/>
                <a:ea typeface="Times New Roman"/>
                <a:cs typeface="Times New Roman"/>
                <a:sym typeface="Times New Roman"/>
              </a:rPr>
              <a:t>constraint graph</a:t>
            </a:r>
            <a:endParaRPr/>
          </a:p>
          <a:p>
            <a:pPr indent="-91440" lvl="0" marL="91440" rtl="0" algn="l">
              <a:lnSpc>
                <a:spcPct val="90000"/>
              </a:lnSpc>
              <a:spcBef>
                <a:spcPts val="1400"/>
              </a:spcBef>
              <a:spcAft>
                <a:spcPts val="0"/>
              </a:spcAft>
              <a:buSzPts val="2200"/>
              <a:buFont typeface="Noto Sans Symbols"/>
              <a:buChar char="▪"/>
            </a:pPr>
            <a:r>
              <a:rPr lang="en-IN">
                <a:latin typeface="Times New Roman"/>
                <a:ea typeface="Times New Roman"/>
                <a:cs typeface="Times New Roman"/>
                <a:sym typeface="Times New Roman"/>
              </a:rPr>
              <a:t>The nodes of the graph correspond to variables of the problem, </a:t>
            </a:r>
            <a:endParaRPr/>
          </a:p>
          <a:p>
            <a:pPr indent="-91440" lvl="0" marL="91440" rtl="0" algn="l">
              <a:lnSpc>
                <a:spcPct val="90000"/>
              </a:lnSpc>
              <a:spcBef>
                <a:spcPts val="1400"/>
              </a:spcBef>
              <a:spcAft>
                <a:spcPts val="0"/>
              </a:spcAft>
              <a:buSzPts val="2200"/>
              <a:buFont typeface="Noto Sans Symbols"/>
              <a:buChar char="▪"/>
            </a:pPr>
            <a:r>
              <a:rPr lang="en-IN">
                <a:latin typeface="Times New Roman"/>
                <a:ea typeface="Times New Roman"/>
                <a:cs typeface="Times New Roman"/>
                <a:sym typeface="Times New Roman"/>
              </a:rPr>
              <a:t>and a link connects any two variables that participate in a constraint.</a:t>
            </a:r>
            <a:endParaRPr/>
          </a:p>
        </p:txBody>
      </p:sp>
      <p:pic>
        <p:nvPicPr>
          <p:cNvPr id="501" name="Google Shape;501;g377313f64b1_0_27"/>
          <p:cNvPicPr preferRelativeResize="0"/>
          <p:nvPr/>
        </p:nvPicPr>
        <p:blipFill rotWithShape="1">
          <a:blip r:embed="rId3">
            <a:alphaModFix/>
          </a:blip>
          <a:srcRect b="0" l="0" r="0" t="0"/>
          <a:stretch/>
        </p:blipFill>
        <p:spPr>
          <a:xfrm>
            <a:off x="1257300" y="2000250"/>
            <a:ext cx="9486901" cy="474344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77313f64b1_0_37"/>
          <p:cNvSpPr txBox="1"/>
          <p:nvPr>
            <p:ph idx="1" type="body"/>
          </p:nvPr>
        </p:nvSpPr>
        <p:spPr>
          <a:xfrm>
            <a:off x="1024128" y="0"/>
            <a:ext cx="10820100" cy="71580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b="0" i="0" lang="en-IN" sz="2400">
                <a:latin typeface="Cambria"/>
                <a:ea typeface="Cambria"/>
                <a:cs typeface="Cambria"/>
                <a:sym typeface="Cambria"/>
              </a:rPr>
              <a:t>In local consistency, variables are treated as </a:t>
            </a:r>
            <a:r>
              <a:rPr b="1" i="0" lang="en-IN" sz="2400">
                <a:latin typeface="Cambria"/>
                <a:ea typeface="Cambria"/>
                <a:cs typeface="Cambria"/>
                <a:sym typeface="Cambria"/>
              </a:rPr>
              <a:t>nodes</a:t>
            </a:r>
            <a:r>
              <a:rPr b="0" i="0" lang="en-IN" sz="2400">
                <a:latin typeface="Cambria"/>
                <a:ea typeface="Cambria"/>
                <a:cs typeface="Cambria"/>
                <a:sym typeface="Cambria"/>
              </a:rPr>
              <a:t>, and each binary constraint is treated as an </a:t>
            </a:r>
            <a:r>
              <a:rPr b="1" i="0" lang="en-IN" sz="2400">
                <a:latin typeface="Cambria"/>
                <a:ea typeface="Cambria"/>
                <a:cs typeface="Cambria"/>
                <a:sym typeface="Cambria"/>
              </a:rPr>
              <a:t>arc</a:t>
            </a:r>
            <a:r>
              <a:rPr b="0" i="0" lang="en-IN" sz="2400">
                <a:latin typeface="Cambria"/>
                <a:ea typeface="Cambria"/>
                <a:cs typeface="Cambria"/>
                <a:sym typeface="Cambria"/>
              </a:rPr>
              <a:t> in the given problem.</a:t>
            </a:r>
            <a:endParaRPr/>
          </a:p>
          <a:p>
            <a:pPr indent="-91440" lvl="0" marL="91440" rtl="0" algn="l">
              <a:lnSpc>
                <a:spcPct val="90000"/>
              </a:lnSpc>
              <a:spcBef>
                <a:spcPts val="1400"/>
              </a:spcBef>
              <a:spcAft>
                <a:spcPts val="0"/>
              </a:spcAft>
              <a:buSzPts val="2400"/>
              <a:buChar char=" "/>
            </a:pPr>
            <a:r>
              <a:rPr b="0" i="0" lang="en-IN" sz="2400">
                <a:latin typeface="Cambria"/>
                <a:ea typeface="Cambria"/>
                <a:cs typeface="Cambria"/>
                <a:sym typeface="Cambria"/>
              </a:rPr>
              <a:t> </a:t>
            </a:r>
            <a:r>
              <a:rPr b="1" i="0" lang="en-IN" sz="2400">
                <a:latin typeface="Cambria"/>
                <a:ea typeface="Cambria"/>
                <a:cs typeface="Cambria"/>
                <a:sym typeface="Cambria"/>
              </a:rPr>
              <a:t>There are following local consistencies which are discussed below:</a:t>
            </a:r>
            <a:endParaRPr b="0" i="0" sz="2400">
              <a:latin typeface="Cambria"/>
              <a:ea typeface="Cambria"/>
              <a:cs typeface="Cambria"/>
              <a:sym typeface="Cambria"/>
            </a:endParaRPr>
          </a:p>
          <a:p>
            <a:pPr indent="-91440" lvl="0" marL="91440" rtl="0" algn="l">
              <a:lnSpc>
                <a:spcPct val="90000"/>
              </a:lnSpc>
              <a:spcBef>
                <a:spcPts val="1400"/>
              </a:spcBef>
              <a:spcAft>
                <a:spcPts val="0"/>
              </a:spcAft>
              <a:buSzPts val="2400"/>
              <a:buFont typeface="Arial"/>
              <a:buChar char="•"/>
            </a:pPr>
            <a:r>
              <a:rPr b="1" i="0" lang="en-IN" sz="2400">
                <a:latin typeface="Cambria"/>
                <a:ea typeface="Cambria"/>
                <a:cs typeface="Cambria"/>
                <a:sym typeface="Cambria"/>
              </a:rPr>
              <a:t>Node Consistency:</a:t>
            </a:r>
            <a:r>
              <a:rPr b="0" i="0" lang="en-IN" sz="2400">
                <a:latin typeface="Cambria"/>
                <a:ea typeface="Cambria"/>
                <a:cs typeface="Cambria"/>
                <a:sym typeface="Cambria"/>
              </a:rPr>
              <a:t> A single variable is said to be node consistent if all the values in the variable’s domain satisfy the unary constraints on the variables.     </a:t>
            </a:r>
            <a:r>
              <a:rPr b="1" i="0" lang="en-IN" sz="2400">
                <a:latin typeface="Cambria"/>
                <a:ea typeface="Cambria"/>
                <a:cs typeface="Cambria"/>
                <a:sym typeface="Cambria"/>
              </a:rPr>
              <a:t>Eg:-</a:t>
            </a:r>
            <a:r>
              <a:rPr b="1" lang="en-IN" sz="2000"/>
              <a:t>SA ≠ green</a:t>
            </a:r>
            <a:endParaRPr/>
          </a:p>
          <a:p>
            <a:pPr indent="-137158" lvl="1" marL="265176" rtl="0" algn="l">
              <a:lnSpc>
                <a:spcPct val="90000"/>
              </a:lnSpc>
              <a:spcBef>
                <a:spcPts val="400"/>
              </a:spcBef>
              <a:spcAft>
                <a:spcPts val="0"/>
              </a:spcAft>
              <a:buSzPts val="2000"/>
              <a:buFont typeface="Arial"/>
              <a:buChar char="•"/>
            </a:pPr>
            <a:r>
              <a:rPr lang="en-IN" sz="2000"/>
              <a:t>where South Australians dislike green, the variable SA starts with domain {red, green, blue}, and we can make it node consistent by eliminating green, leaving SA with the reduced domain {red, blue}.</a:t>
            </a:r>
            <a:endParaRPr b="0" i="0" sz="2400">
              <a:latin typeface="Cambria"/>
              <a:ea typeface="Cambria"/>
              <a:cs typeface="Cambria"/>
              <a:sym typeface="Cambria"/>
            </a:endParaRPr>
          </a:p>
          <a:p>
            <a:pPr indent="-91440" lvl="0" marL="91440" rtl="0" algn="l">
              <a:lnSpc>
                <a:spcPct val="90000"/>
              </a:lnSpc>
              <a:spcBef>
                <a:spcPts val="1600"/>
              </a:spcBef>
              <a:spcAft>
                <a:spcPts val="0"/>
              </a:spcAft>
              <a:buSzPts val="2400"/>
              <a:buFont typeface="Arial"/>
              <a:buChar char="•"/>
            </a:pPr>
            <a:r>
              <a:rPr b="1" i="0" lang="en-IN" sz="2400">
                <a:latin typeface="Cambria"/>
                <a:ea typeface="Cambria"/>
                <a:cs typeface="Cambria"/>
                <a:sym typeface="Cambria"/>
              </a:rPr>
              <a:t>Arc Consistency:</a:t>
            </a:r>
            <a:r>
              <a:rPr b="0" i="0" lang="en-IN" sz="2400">
                <a:latin typeface="Cambria"/>
                <a:ea typeface="Cambria"/>
                <a:cs typeface="Cambria"/>
                <a:sym typeface="Cambria"/>
              </a:rPr>
              <a:t> A variable is arc consistent if every value in its domain satisfies the binary constraints of the variables.</a:t>
            </a:r>
            <a:endParaRPr/>
          </a:p>
          <a:p>
            <a:pPr indent="-137158" lvl="1" marL="265176" rtl="0" algn="l">
              <a:lnSpc>
                <a:spcPct val="90000"/>
              </a:lnSpc>
              <a:spcBef>
                <a:spcPts val="400"/>
              </a:spcBef>
              <a:spcAft>
                <a:spcPts val="0"/>
              </a:spcAft>
              <a:buSzPts val="2000"/>
              <a:buFont typeface="Arial"/>
              <a:buChar char="•"/>
            </a:pPr>
            <a:r>
              <a:rPr lang="en-IN" sz="2000"/>
              <a:t>For example, consider the constraint Y = X</a:t>
            </a:r>
            <a:r>
              <a:rPr baseline="30000" lang="en-IN" sz="2000"/>
              <a:t>2</a:t>
            </a:r>
            <a:r>
              <a:rPr lang="en-IN" sz="2000"/>
              <a:t> where the domain of both X and Y is the set of digits. We can write this constraint explicitly as (X, Y ), {(0, 0),(1, 1),(2, 4),(3, 9))} .</a:t>
            </a:r>
            <a:endParaRPr/>
          </a:p>
          <a:p>
            <a:pPr indent="-137158" lvl="1" marL="265176" rtl="0" algn="l">
              <a:lnSpc>
                <a:spcPct val="90000"/>
              </a:lnSpc>
              <a:spcBef>
                <a:spcPts val="600"/>
              </a:spcBef>
              <a:spcAft>
                <a:spcPts val="0"/>
              </a:spcAft>
              <a:buSzPts val="2000"/>
              <a:buFont typeface="Arial"/>
              <a:buChar char="•"/>
            </a:pPr>
            <a:r>
              <a:rPr lang="en-IN" sz="2000"/>
              <a:t>To make X arc-consistent with respect to Y , we reduce X’s domain to {0, 1, 2, 3}. If we also make Y arc-consistent with respect to X, then Y ’s domain becomes {0, 1, 4, 9} and the whole CSP is arc-consistent</a:t>
            </a:r>
            <a:r>
              <a:rPr lang="en-IN" sz="2800"/>
              <a:t>.</a:t>
            </a:r>
            <a:endParaRPr b="0" i="0" sz="2800">
              <a:latin typeface="Cambria"/>
              <a:ea typeface="Cambria"/>
              <a:cs typeface="Cambria"/>
              <a:sym typeface="Cambria"/>
            </a:endParaRPr>
          </a:p>
          <a:p>
            <a:pPr indent="-91440" lvl="0" marL="91440" rtl="0" algn="l">
              <a:lnSpc>
                <a:spcPct val="90000"/>
              </a:lnSpc>
              <a:spcBef>
                <a:spcPts val="1600"/>
              </a:spcBef>
              <a:spcAft>
                <a:spcPts val="0"/>
              </a:spcAft>
              <a:buSzPts val="2000"/>
              <a:buFont typeface="Noto Sans Symbols"/>
              <a:buChar char="▪"/>
            </a:pPr>
            <a:r>
              <a:rPr lang="en-IN" sz="2000"/>
              <a:t>arc consistency can do nothing for the Australia map-coloring problem. Consider the following inequality constraint on (SA,WA): {(red, green),(red, blue),(green, red),(green, blue),(blue, red),(blue, green)} . </a:t>
            </a:r>
            <a:endParaRPr sz="2400">
              <a:latin typeface="Cambria"/>
              <a:ea typeface="Cambria"/>
              <a:cs typeface="Cambria"/>
              <a:sym typeface="Cambria"/>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377313f64b1_0_54"/>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12" name="Google Shape;512;g377313f64b1_0_54"/>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13" name="Google Shape;513;g377313f64b1_0_54"/>
          <p:cNvPicPr preferRelativeResize="0"/>
          <p:nvPr/>
        </p:nvPicPr>
        <p:blipFill rotWithShape="1">
          <a:blip r:embed="rId3">
            <a:alphaModFix/>
          </a:blip>
          <a:srcRect b="28115" l="4379" r="0" t="6056"/>
          <a:stretch/>
        </p:blipFill>
        <p:spPr>
          <a:xfrm>
            <a:off x="534150" y="415775"/>
            <a:ext cx="11159227" cy="58935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77313f64b1_0_60"/>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19" name="Google Shape;519;g377313f64b1_0_60"/>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20" name="Google Shape;520;g377313f64b1_0_60"/>
          <p:cNvPicPr preferRelativeResize="0"/>
          <p:nvPr/>
        </p:nvPicPr>
        <p:blipFill rotWithShape="1">
          <a:blip r:embed="rId3">
            <a:alphaModFix/>
          </a:blip>
          <a:srcRect b="27339" l="3400" r="0" t="7224"/>
          <a:stretch/>
        </p:blipFill>
        <p:spPr>
          <a:xfrm>
            <a:off x="414300" y="495675"/>
            <a:ext cx="11777702" cy="5699449"/>
          </a:xfrm>
          <a:prstGeom prst="rect">
            <a:avLst/>
          </a:prstGeom>
          <a:noFill/>
          <a:ln>
            <a:noFill/>
          </a:ln>
        </p:spPr>
      </p:pic>
      <p:sp>
        <p:nvSpPr>
          <p:cNvPr id="521" name="Google Shape;521;g377313f64b1_0_60"/>
          <p:cNvSpPr txBox="1"/>
          <p:nvPr/>
        </p:nvSpPr>
        <p:spPr>
          <a:xfrm>
            <a:off x="907000" y="6233100"/>
            <a:ext cx="76704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IN" sz="2200" u="none" cap="none" strike="noStrike">
                <a:solidFill>
                  <a:schemeClr val="dk1"/>
                </a:solidFill>
                <a:latin typeface="Cambria"/>
                <a:ea typeface="Cambria"/>
                <a:cs typeface="Cambria"/>
                <a:sym typeface="Cambria"/>
              </a:rPr>
              <a:t>Arc Consistency detects failure earlier than Forward Checking</a:t>
            </a:r>
            <a:endParaRPr b="0" i="0" sz="2200" u="none" cap="none" strike="noStrike">
              <a:solidFill>
                <a:schemeClr val="dk1"/>
              </a:solidFill>
              <a:latin typeface="Cambria"/>
              <a:ea typeface="Cambria"/>
              <a:cs typeface="Cambria"/>
              <a:sym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82af4c0e6e_0_0"/>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527" name="Google Shape;527;g382af4c0e6e_0_0"/>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spcBef>
                <a:spcPts val="1200"/>
              </a:spcBef>
              <a:spcAft>
                <a:spcPts val="0"/>
              </a:spcAft>
              <a:buNone/>
            </a:pPr>
            <a:r>
              <a:t/>
            </a:r>
            <a:endParaRPr/>
          </a:p>
        </p:txBody>
      </p:sp>
      <p:pic>
        <p:nvPicPr>
          <p:cNvPr id="528" name="Google Shape;528;g382af4c0e6e_0_0"/>
          <p:cNvPicPr preferRelativeResize="0"/>
          <p:nvPr/>
        </p:nvPicPr>
        <p:blipFill>
          <a:blip r:embed="rId3">
            <a:alphaModFix/>
          </a:blip>
          <a:stretch>
            <a:fillRect/>
          </a:stretch>
        </p:blipFill>
        <p:spPr>
          <a:xfrm>
            <a:off x="176213" y="285750"/>
            <a:ext cx="11839575" cy="62865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77313f64b1_0_41"/>
          <p:cNvSpPr txBox="1"/>
          <p:nvPr>
            <p:ph idx="1" type="body"/>
          </p:nvPr>
        </p:nvSpPr>
        <p:spPr>
          <a:xfrm>
            <a:off x="585788" y="271463"/>
            <a:ext cx="11115600" cy="63864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Font typeface="Arial"/>
              <a:buChar char="•"/>
            </a:pPr>
            <a:r>
              <a:rPr lang="en-IN" sz="2400"/>
              <a:t>Arc consistency tightens down the domains (unary constraints) using the arcs (binary constraints). </a:t>
            </a:r>
            <a:endParaRPr/>
          </a:p>
          <a:p>
            <a:pPr indent="-91440" lvl="0" marL="91440" rtl="0" algn="l">
              <a:lnSpc>
                <a:spcPct val="90000"/>
              </a:lnSpc>
              <a:spcBef>
                <a:spcPts val="1400"/>
              </a:spcBef>
              <a:spcAft>
                <a:spcPts val="0"/>
              </a:spcAft>
              <a:buSzPts val="2400"/>
              <a:buFont typeface="Arial"/>
              <a:buChar char="•"/>
            </a:pPr>
            <a:r>
              <a:rPr lang="en-IN" sz="2400"/>
              <a:t>To make progress on problems like map coloring, we need a stronger notion of consistency.</a:t>
            </a:r>
            <a:endParaRPr/>
          </a:p>
          <a:p>
            <a:pPr indent="-91440" lvl="0" marL="91440" rtl="0" algn="l">
              <a:lnSpc>
                <a:spcPct val="90000"/>
              </a:lnSpc>
              <a:spcBef>
                <a:spcPts val="1400"/>
              </a:spcBef>
              <a:spcAft>
                <a:spcPts val="0"/>
              </a:spcAft>
              <a:buSzPts val="2400"/>
              <a:buFont typeface="Arial"/>
              <a:buChar char="•"/>
            </a:pPr>
            <a:r>
              <a:rPr lang="en-IN" sz="2400"/>
              <a:t> Path consistency tightens the binary constraints by using implicit constraints that are inferred by looking at triples of variables.</a:t>
            </a:r>
            <a:endParaRPr b="1" sz="2400">
              <a:latin typeface="Cambria"/>
              <a:ea typeface="Cambria"/>
              <a:cs typeface="Cambria"/>
              <a:sym typeface="Cambria"/>
            </a:endParaRPr>
          </a:p>
          <a:p>
            <a:pPr indent="-91440" lvl="0" marL="91440" rtl="0" algn="l">
              <a:lnSpc>
                <a:spcPct val="90000"/>
              </a:lnSpc>
              <a:spcBef>
                <a:spcPts val="1400"/>
              </a:spcBef>
              <a:spcAft>
                <a:spcPts val="0"/>
              </a:spcAft>
              <a:buSzPts val="2400"/>
              <a:buFont typeface="Arial"/>
              <a:buChar char="•"/>
            </a:pPr>
            <a:r>
              <a:rPr b="1" i="0" lang="en-IN" sz="2400">
                <a:latin typeface="Cambria"/>
                <a:ea typeface="Cambria"/>
                <a:cs typeface="Cambria"/>
                <a:sym typeface="Cambria"/>
              </a:rPr>
              <a:t>Path Consistency:</a:t>
            </a:r>
            <a:r>
              <a:rPr b="0" i="0" lang="en-IN" sz="2400">
                <a:latin typeface="Cambria"/>
                <a:ea typeface="Cambria"/>
                <a:cs typeface="Cambria"/>
                <a:sym typeface="Cambria"/>
              </a:rPr>
              <a:t> When the evaluation of a set of two variable with respect to a third variable can be extended over another variable, satisfying all the binary constraints. It is similar to arc consistency.</a:t>
            </a:r>
            <a:endParaRPr/>
          </a:p>
          <a:p>
            <a:pPr indent="0" lvl="0" marL="0" rtl="0" algn="l">
              <a:lnSpc>
                <a:spcPct val="90000"/>
              </a:lnSpc>
              <a:spcBef>
                <a:spcPts val="1400"/>
              </a:spcBef>
              <a:spcAft>
                <a:spcPts val="0"/>
              </a:spcAft>
              <a:buSzPts val="2400"/>
              <a:buNone/>
            </a:pPr>
            <a:r>
              <a:t/>
            </a:r>
            <a:endParaRPr b="0" i="0" sz="2400">
              <a:latin typeface="Cambria"/>
              <a:ea typeface="Cambria"/>
              <a:cs typeface="Cambria"/>
              <a:sym typeface="Cambria"/>
            </a:endParaRPr>
          </a:p>
          <a:p>
            <a:pPr indent="-137158" lvl="1" marL="265176" rtl="0" algn="l">
              <a:lnSpc>
                <a:spcPct val="90000"/>
              </a:lnSpc>
              <a:spcBef>
                <a:spcPts val="400"/>
              </a:spcBef>
              <a:spcAft>
                <a:spcPts val="0"/>
              </a:spcAft>
              <a:buSzPts val="2000"/>
              <a:buFont typeface="Arial"/>
              <a:buChar char="•"/>
            </a:pPr>
            <a:r>
              <a:rPr lang="en-IN" sz="2000"/>
              <a:t>A two-variable set {Xi, Xj} is path-consistent with respect to a third variable Xm if,</a:t>
            </a:r>
            <a:endParaRPr/>
          </a:p>
          <a:p>
            <a:pPr indent="-137158" lvl="1" marL="265176" rtl="0" algn="l">
              <a:lnSpc>
                <a:spcPct val="90000"/>
              </a:lnSpc>
              <a:spcBef>
                <a:spcPts val="600"/>
              </a:spcBef>
              <a:spcAft>
                <a:spcPts val="0"/>
              </a:spcAft>
              <a:buSzPts val="2000"/>
              <a:buFont typeface="Arial"/>
              <a:buChar char="•"/>
            </a:pPr>
            <a:r>
              <a:rPr lang="en-IN" sz="2000"/>
              <a:t> for every assignment {Xi = a, Xj = b} consistent with the constraints on {Xi, Xj}, </a:t>
            </a:r>
            <a:endParaRPr/>
          </a:p>
          <a:p>
            <a:pPr indent="-137158" lvl="1" marL="265176" rtl="0" algn="l">
              <a:lnSpc>
                <a:spcPct val="90000"/>
              </a:lnSpc>
              <a:spcBef>
                <a:spcPts val="600"/>
              </a:spcBef>
              <a:spcAft>
                <a:spcPts val="0"/>
              </a:spcAft>
              <a:buSzPts val="2000"/>
              <a:buFont typeface="Arial"/>
              <a:buChar char="•"/>
            </a:pPr>
            <a:r>
              <a:rPr lang="en-IN" sz="2000"/>
              <a:t>there is an assignment to Xm that satisfies the constraints on {Xi, Xm} and {Xm, Xj}. </a:t>
            </a:r>
            <a:endParaRPr/>
          </a:p>
          <a:p>
            <a:pPr indent="-137158" lvl="1" marL="265176" rtl="0" algn="l">
              <a:lnSpc>
                <a:spcPct val="90000"/>
              </a:lnSpc>
              <a:spcBef>
                <a:spcPts val="600"/>
              </a:spcBef>
              <a:spcAft>
                <a:spcPts val="0"/>
              </a:spcAft>
              <a:buSzPts val="2000"/>
              <a:buFont typeface="Arial"/>
              <a:buChar char="•"/>
            </a:pPr>
            <a:r>
              <a:rPr lang="en-IN" sz="2000"/>
              <a:t>This is called path consistency because one can think of it as looking at a path from Xi to Xj with Xm in the middle.</a:t>
            </a:r>
            <a:endParaRPr b="0" i="0" sz="2000">
              <a:latin typeface="Cambria"/>
              <a:ea typeface="Cambria"/>
              <a:cs typeface="Cambria"/>
              <a:sym typeface="Cambria"/>
            </a:endParaRPr>
          </a:p>
          <a:p>
            <a:pPr indent="0" lvl="0" marL="91440" rtl="0" algn="l">
              <a:lnSpc>
                <a:spcPct val="90000"/>
              </a:lnSpc>
              <a:spcBef>
                <a:spcPts val="1600"/>
              </a:spcBef>
              <a:spcAft>
                <a:spcPts val="0"/>
              </a:spcAft>
              <a:buSzPts val="2400"/>
              <a:buNone/>
            </a:pPr>
            <a:r>
              <a:t/>
            </a:r>
            <a:endParaRPr sz="24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77313f64b1_0_45"/>
          <p:cNvSpPr txBox="1"/>
          <p:nvPr>
            <p:ph idx="1" type="body"/>
          </p:nvPr>
        </p:nvSpPr>
        <p:spPr>
          <a:xfrm>
            <a:off x="1024128" y="700088"/>
            <a:ext cx="10334400" cy="56094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b="1" i="0" lang="en-IN" sz="2400">
                <a:latin typeface="Cambria"/>
                <a:ea typeface="Cambria"/>
                <a:cs typeface="Cambria"/>
                <a:sym typeface="Cambria"/>
              </a:rPr>
              <a:t>k-consistency:</a:t>
            </a:r>
            <a:r>
              <a:rPr b="0" i="0" lang="en-IN" sz="2400">
                <a:latin typeface="Cambria"/>
                <a:ea typeface="Cambria"/>
                <a:cs typeface="Cambria"/>
                <a:sym typeface="Cambria"/>
              </a:rPr>
              <a:t> This type of consistency is used to define the notion of stronger forms of propagation. Here, we examine the k-consistency of the variables.</a:t>
            </a:r>
            <a:endParaRPr/>
          </a:p>
          <a:p>
            <a:pPr indent="-91440" lvl="0" marL="91440" rtl="0" algn="l">
              <a:lnSpc>
                <a:spcPct val="90000"/>
              </a:lnSpc>
              <a:spcBef>
                <a:spcPts val="1400"/>
              </a:spcBef>
              <a:spcAft>
                <a:spcPts val="0"/>
              </a:spcAft>
              <a:buSzPts val="2400"/>
              <a:buChar char=" "/>
            </a:pPr>
            <a:r>
              <a:rPr lang="en-IN" sz="2400"/>
              <a:t>Example :-  </a:t>
            </a:r>
            <a:endParaRPr/>
          </a:p>
          <a:p>
            <a:pPr indent="-91440" lvl="0" marL="91440" rtl="0" algn="l">
              <a:lnSpc>
                <a:spcPct val="90000"/>
              </a:lnSpc>
              <a:spcBef>
                <a:spcPts val="1400"/>
              </a:spcBef>
              <a:spcAft>
                <a:spcPts val="0"/>
              </a:spcAft>
              <a:buSzPts val="2400"/>
              <a:buChar char=" "/>
            </a:pPr>
            <a:r>
              <a:rPr lang="en-IN" sz="2400"/>
              <a:t>First, we choose a consistent value for X1. </a:t>
            </a:r>
            <a:endParaRPr/>
          </a:p>
          <a:p>
            <a:pPr indent="-91440" lvl="0" marL="91440" rtl="0" algn="l">
              <a:lnSpc>
                <a:spcPct val="90000"/>
              </a:lnSpc>
              <a:spcBef>
                <a:spcPts val="1400"/>
              </a:spcBef>
              <a:spcAft>
                <a:spcPts val="0"/>
              </a:spcAft>
              <a:buSzPts val="2400"/>
              <a:buChar char=" "/>
            </a:pPr>
            <a:r>
              <a:rPr lang="en-IN" sz="2400"/>
              <a:t>We are then guaranteed to be able to choose a value for X2 because the graph is 2-consistent, </a:t>
            </a:r>
            <a:endParaRPr/>
          </a:p>
          <a:p>
            <a:pPr indent="-91440" lvl="0" marL="91440" rtl="0" algn="l">
              <a:lnSpc>
                <a:spcPct val="90000"/>
              </a:lnSpc>
              <a:spcBef>
                <a:spcPts val="1400"/>
              </a:spcBef>
              <a:spcAft>
                <a:spcPts val="0"/>
              </a:spcAft>
              <a:buSzPts val="2400"/>
              <a:buChar char=" "/>
            </a:pPr>
            <a:r>
              <a:rPr lang="en-IN" sz="2400"/>
              <a:t>for X3 because it is 3-consistent, and so on. </a:t>
            </a:r>
            <a:endParaRPr/>
          </a:p>
          <a:p>
            <a:pPr indent="-91440" lvl="0" marL="91440" rtl="0" algn="l">
              <a:lnSpc>
                <a:spcPct val="90000"/>
              </a:lnSpc>
              <a:spcBef>
                <a:spcPts val="1400"/>
              </a:spcBef>
              <a:spcAft>
                <a:spcPts val="0"/>
              </a:spcAft>
              <a:buSzPts val="2400"/>
              <a:buChar char=" "/>
            </a:pPr>
            <a:r>
              <a:rPr lang="en-IN" sz="2400"/>
              <a:t>For each variable Xi, we need only search through the d values in the domain to find a value consistent with X1,...,Xi−1. We are guaranteed to find a solution in time O(n2d). </a:t>
            </a:r>
            <a:endParaRPr b="0" i="0" sz="3200">
              <a:latin typeface="Cambria"/>
              <a:ea typeface="Cambria"/>
              <a:cs typeface="Cambria"/>
              <a:sym typeface="Cambria"/>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7b59bdb6e3_0_8"/>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44" name="Google Shape;544;g37b59bdb6e3_0_8"/>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45" name="Google Shape;545;g37b59bdb6e3_0_8"/>
          <p:cNvPicPr preferRelativeResize="0"/>
          <p:nvPr/>
        </p:nvPicPr>
        <p:blipFill rotWithShape="1">
          <a:blip r:embed="rId3">
            <a:alphaModFix/>
          </a:blip>
          <a:srcRect b="23820" l="-2619" r="1465" t="0"/>
          <a:stretch/>
        </p:blipFill>
        <p:spPr>
          <a:xfrm>
            <a:off x="773850" y="495850"/>
            <a:ext cx="10453426" cy="5975974"/>
          </a:xfrm>
          <a:prstGeom prst="rect">
            <a:avLst/>
          </a:prstGeom>
          <a:noFill/>
          <a:ln>
            <a:noFill/>
          </a:ln>
        </p:spPr>
      </p:pic>
      <p:sp>
        <p:nvSpPr>
          <p:cNvPr id="546" name="Google Shape;546;g37b59bdb6e3_0_8"/>
          <p:cNvSpPr txBox="1"/>
          <p:nvPr/>
        </p:nvSpPr>
        <p:spPr>
          <a:xfrm>
            <a:off x="9323025" y="6088600"/>
            <a:ext cx="1930800" cy="4395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200">
              <a:solidFill>
                <a:schemeClr val="dk1"/>
              </a:solidFill>
              <a:latin typeface="Cambria"/>
              <a:ea typeface="Cambria"/>
              <a:cs typeface="Cambria"/>
              <a:sym typeface="Cambria"/>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37b59bdb6e3_0_14"/>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52" name="Google Shape;552;g37b59bdb6e3_0_14"/>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53" name="Google Shape;553;g37b59bdb6e3_0_14"/>
          <p:cNvPicPr preferRelativeResize="0"/>
          <p:nvPr/>
        </p:nvPicPr>
        <p:blipFill rotWithShape="1">
          <a:blip r:embed="rId3">
            <a:alphaModFix/>
          </a:blip>
          <a:srcRect b="40103" l="3285" r="15557" t="8584"/>
          <a:stretch/>
        </p:blipFill>
        <p:spPr>
          <a:xfrm>
            <a:off x="1024125" y="735375"/>
            <a:ext cx="9510701" cy="488715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7b59bdb6e3_0_26"/>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59" name="Google Shape;559;g37b59bdb6e3_0_26"/>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60" name="Google Shape;560;g37b59bdb6e3_0_26"/>
          <p:cNvPicPr preferRelativeResize="0"/>
          <p:nvPr/>
        </p:nvPicPr>
        <p:blipFill rotWithShape="1">
          <a:blip r:embed="rId3">
            <a:alphaModFix/>
          </a:blip>
          <a:srcRect b="28552" l="4048" r="0" t="7938"/>
          <a:stretch/>
        </p:blipFill>
        <p:spPr>
          <a:xfrm>
            <a:off x="320338" y="566963"/>
            <a:ext cx="11551325" cy="572407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7b59bdb6e3_0_20"/>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66" name="Google Shape;566;g37b59bdb6e3_0_20"/>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67" name="Google Shape;567;g37b59bdb6e3_0_20"/>
          <p:cNvPicPr preferRelativeResize="0"/>
          <p:nvPr/>
        </p:nvPicPr>
        <p:blipFill rotWithShape="1">
          <a:blip r:embed="rId3">
            <a:alphaModFix/>
          </a:blip>
          <a:srcRect b="29665" l="4489" r="0" t="6452"/>
          <a:stretch/>
        </p:blipFill>
        <p:spPr>
          <a:xfrm>
            <a:off x="547450" y="442400"/>
            <a:ext cx="10413523" cy="58669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7b59bdb6e3_0_33"/>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73" name="Google Shape;573;g37b59bdb6e3_0_33"/>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74" name="Google Shape;574;g37b59bdb6e3_0_33"/>
          <p:cNvPicPr preferRelativeResize="0"/>
          <p:nvPr/>
        </p:nvPicPr>
        <p:blipFill rotWithShape="1">
          <a:blip r:embed="rId3">
            <a:alphaModFix/>
          </a:blip>
          <a:srcRect b="29466" l="1322" r="0" t="8536"/>
          <a:stretch/>
        </p:blipFill>
        <p:spPr>
          <a:xfrm>
            <a:off x="161275" y="585225"/>
            <a:ext cx="10892899" cy="551669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g37b59bdb6e3_0_39"/>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80" name="Google Shape;580;g37b59bdb6e3_0_39"/>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81" name="Google Shape;581;g37b59bdb6e3_0_39"/>
          <p:cNvPicPr preferRelativeResize="0"/>
          <p:nvPr/>
        </p:nvPicPr>
        <p:blipFill rotWithShape="1">
          <a:blip r:embed="rId3">
            <a:alphaModFix/>
          </a:blip>
          <a:srcRect b="26749" l="1980" r="0" t="6840"/>
          <a:stretch/>
        </p:blipFill>
        <p:spPr>
          <a:xfrm>
            <a:off x="241175" y="469025"/>
            <a:ext cx="11239123" cy="551304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37b59bdb6e3_0_45"/>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t/>
            </a:r>
            <a:endParaRPr/>
          </a:p>
        </p:txBody>
      </p:sp>
      <p:sp>
        <p:nvSpPr>
          <p:cNvPr id="587" name="Google Shape;587;g37b59bdb6e3_0_45"/>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200"/>
              </a:spcBef>
              <a:spcAft>
                <a:spcPts val="200"/>
              </a:spcAft>
              <a:buSzPts val="1800"/>
              <a:buNone/>
            </a:pPr>
            <a:r>
              <a:t/>
            </a:r>
            <a:endParaRPr/>
          </a:p>
        </p:txBody>
      </p:sp>
      <p:pic>
        <p:nvPicPr>
          <p:cNvPr id="588" name="Google Shape;588;g37b59bdb6e3_0_45"/>
          <p:cNvPicPr preferRelativeResize="0"/>
          <p:nvPr/>
        </p:nvPicPr>
        <p:blipFill rotWithShape="1">
          <a:blip r:embed="rId3">
            <a:alphaModFix/>
          </a:blip>
          <a:srcRect b="21462" l="2629" r="18405" t="9237"/>
          <a:stretch/>
        </p:blipFill>
        <p:spPr>
          <a:xfrm>
            <a:off x="1519550" y="668775"/>
            <a:ext cx="9627826" cy="572610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35"/>
          <p:cNvSpPr txBox="1"/>
          <p:nvPr>
            <p:ph idx="1" type="body"/>
          </p:nvPr>
        </p:nvSpPr>
        <p:spPr>
          <a:xfrm>
            <a:off x="1367028" y="3429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Char char=" "/>
            </a:pPr>
            <a:r>
              <a:rPr lang="en-IN"/>
              <a:t>Solutions are assignments satisfying all constraints, e.g.</a:t>
            </a:r>
            <a:endParaRPr/>
          </a:p>
          <a:p>
            <a:pPr indent="-91440" lvl="0" marL="91440" rtl="0" algn="l">
              <a:lnSpc>
                <a:spcPct val="90000"/>
              </a:lnSpc>
              <a:spcBef>
                <a:spcPts val="1400"/>
              </a:spcBef>
              <a:spcAft>
                <a:spcPts val="0"/>
              </a:spcAft>
              <a:buSzPts val="2200"/>
              <a:buFont typeface="Cambria"/>
              <a:buNone/>
            </a:pPr>
            <a:r>
              <a:rPr lang="en-IN"/>
              <a:t>	 </a:t>
            </a:r>
            <a:r>
              <a:rPr i="1" lang="en-IN"/>
              <a:t>{WA=red,NT=green,Q=red,NSW=green,V=red,SA=blue,T=green}</a:t>
            </a:r>
            <a:endParaRPr/>
          </a:p>
          <a:p>
            <a:pPr indent="0" lvl="0" marL="91440" rtl="0" algn="l">
              <a:lnSpc>
                <a:spcPct val="90000"/>
              </a:lnSpc>
              <a:spcBef>
                <a:spcPts val="1400"/>
              </a:spcBef>
              <a:spcAft>
                <a:spcPts val="0"/>
              </a:spcAft>
              <a:buSzPts val="2200"/>
              <a:buNone/>
            </a:pPr>
            <a:r>
              <a:t/>
            </a:r>
            <a:endParaRPr/>
          </a:p>
        </p:txBody>
      </p:sp>
      <p:pic>
        <p:nvPicPr>
          <p:cNvPr id="594" name="Google Shape;594;p35"/>
          <p:cNvPicPr preferRelativeResize="0"/>
          <p:nvPr/>
        </p:nvPicPr>
        <p:blipFill rotWithShape="1">
          <a:blip r:embed="rId3">
            <a:alphaModFix/>
          </a:blip>
          <a:srcRect b="0" l="0" r="0" t="0"/>
          <a:stretch/>
        </p:blipFill>
        <p:spPr>
          <a:xfrm>
            <a:off x="2566987" y="371475"/>
            <a:ext cx="6096000" cy="305752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1"/>
          <p:cNvSpPr txBox="1"/>
          <p:nvPr>
            <p:ph type="title"/>
          </p:nvPr>
        </p:nvSpPr>
        <p:spPr>
          <a:xfrm>
            <a:off x="1024127" y="326898"/>
            <a:ext cx="9720072" cy="44348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Cambria"/>
              <a:buNone/>
            </a:pPr>
            <a:r>
              <a:rPr lang="en-IN"/>
              <a:t>SUDOKU EXAMPLE</a:t>
            </a:r>
            <a:endParaRPr/>
          </a:p>
        </p:txBody>
      </p:sp>
      <p:sp>
        <p:nvSpPr>
          <p:cNvPr id="600" name="Google Shape;600;p41"/>
          <p:cNvSpPr txBox="1"/>
          <p:nvPr>
            <p:ph idx="1" type="body"/>
          </p:nvPr>
        </p:nvSpPr>
        <p:spPr>
          <a:xfrm>
            <a:off x="1024128" y="957263"/>
            <a:ext cx="9720073" cy="5352097"/>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Char char=" "/>
            </a:pPr>
            <a:r>
              <a:rPr b="1" i="0" lang="en-IN">
                <a:solidFill>
                  <a:srgbClr val="504B3A"/>
                </a:solidFill>
                <a:latin typeface="Quicksand"/>
                <a:ea typeface="Quicksand"/>
                <a:cs typeface="Quicksand"/>
                <a:sym typeface="Quicksand"/>
              </a:rPr>
              <a:t>Sudoku Playing:</a:t>
            </a:r>
            <a:r>
              <a:rPr b="0" i="0" lang="en-IN">
                <a:solidFill>
                  <a:srgbClr val="666666"/>
                </a:solidFill>
                <a:latin typeface="Quicksand"/>
                <a:ea typeface="Quicksand"/>
                <a:cs typeface="Quicksand"/>
                <a:sym typeface="Quicksand"/>
              </a:rPr>
              <a:t> The gameplay where the constraint is that no number from 0-9 can be repeated in the same row or column.</a:t>
            </a:r>
            <a:endParaRPr/>
          </a:p>
          <a:p>
            <a:pPr indent="0" lvl="0" marL="91440" rtl="0" algn="l">
              <a:lnSpc>
                <a:spcPct val="90000"/>
              </a:lnSpc>
              <a:spcBef>
                <a:spcPts val="1400"/>
              </a:spcBef>
              <a:spcAft>
                <a:spcPts val="0"/>
              </a:spcAft>
              <a:buSzPts val="2200"/>
              <a:buNone/>
            </a:pPr>
            <a:r>
              <a:t/>
            </a:r>
            <a:endParaRPr/>
          </a:p>
        </p:txBody>
      </p:sp>
      <p:pic>
        <p:nvPicPr>
          <p:cNvPr id="601" name="Google Shape;601;p41"/>
          <p:cNvPicPr preferRelativeResize="0"/>
          <p:nvPr/>
        </p:nvPicPr>
        <p:blipFill rotWithShape="1">
          <a:blip r:embed="rId3">
            <a:alphaModFix/>
          </a:blip>
          <a:srcRect b="16810" l="20507" r="33438" t="42962"/>
          <a:stretch/>
        </p:blipFill>
        <p:spPr>
          <a:xfrm>
            <a:off x="1957389" y="2050256"/>
            <a:ext cx="8072436" cy="406479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2"/>
          <p:cNvSpPr txBox="1"/>
          <p:nvPr>
            <p:ph idx="1" type="body"/>
          </p:nvPr>
        </p:nvSpPr>
        <p:spPr>
          <a:xfrm>
            <a:off x="909828" y="642936"/>
            <a:ext cx="9720073" cy="6743702"/>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Font typeface="Noto Sans Symbols"/>
              <a:buChar char="▪"/>
            </a:pPr>
            <a:r>
              <a:rPr b="1" i="0" lang="en-IN">
                <a:latin typeface="Quicksand"/>
                <a:ea typeface="Quicksand"/>
                <a:cs typeface="Quicksand"/>
                <a:sym typeface="Quicksand"/>
              </a:rPr>
              <a:t>n-queen problem:</a:t>
            </a:r>
            <a:r>
              <a:rPr b="0" i="0" lang="en-IN">
                <a:latin typeface="Quicksand"/>
                <a:ea typeface="Quicksand"/>
                <a:cs typeface="Quicksand"/>
                <a:sym typeface="Quicksand"/>
              </a:rPr>
              <a:t> In n-queen problem, the constraint is that no queen should be placed either diagonally, in the same row or column.</a:t>
            </a:r>
            <a:endParaRPr/>
          </a:p>
          <a:p>
            <a:pPr indent="-91440" lvl="0" marL="91440" rtl="0" algn="l">
              <a:lnSpc>
                <a:spcPct val="90000"/>
              </a:lnSpc>
              <a:spcBef>
                <a:spcPts val="1400"/>
              </a:spcBef>
              <a:spcAft>
                <a:spcPts val="0"/>
              </a:spcAft>
              <a:buSzPts val="2200"/>
              <a:buFont typeface="Noto Sans Symbols"/>
              <a:buChar char="▪"/>
            </a:pPr>
            <a:r>
              <a:rPr b="1" i="0" lang="en-IN">
                <a:latin typeface="Quicksand"/>
                <a:ea typeface="Quicksand"/>
                <a:cs typeface="Quicksand"/>
                <a:sym typeface="Quicksand"/>
              </a:rPr>
              <a:t>Crossword:</a:t>
            </a:r>
            <a:r>
              <a:rPr b="0" i="0" lang="en-IN">
                <a:latin typeface="Quicksand"/>
                <a:ea typeface="Quicksand"/>
                <a:cs typeface="Quicksand"/>
                <a:sym typeface="Quicksand"/>
              </a:rPr>
              <a:t> In crossword problem, the constraint is that there should be the correct formation of the words, and it should be meaningful.</a:t>
            </a:r>
            <a:endParaRPr/>
          </a:p>
          <a:p>
            <a:pPr indent="0" lvl="0" marL="91440" rtl="0" algn="l">
              <a:lnSpc>
                <a:spcPct val="90000"/>
              </a:lnSpc>
              <a:spcBef>
                <a:spcPts val="1400"/>
              </a:spcBef>
              <a:spcAft>
                <a:spcPts val="0"/>
              </a:spcAft>
              <a:buSzPts val="2200"/>
              <a:buFont typeface="Noto Sans Symbols"/>
              <a:buNone/>
            </a:pPr>
            <a:r>
              <a:t/>
            </a:r>
            <a:endParaRPr>
              <a:latin typeface="Quicksand"/>
              <a:ea typeface="Quicksand"/>
              <a:cs typeface="Quicksand"/>
              <a:sym typeface="Quicksand"/>
            </a:endParaRPr>
          </a:p>
          <a:p>
            <a:pPr indent="0" lvl="0" marL="91440" rtl="0" algn="l">
              <a:lnSpc>
                <a:spcPct val="90000"/>
              </a:lnSpc>
              <a:spcBef>
                <a:spcPts val="1400"/>
              </a:spcBef>
              <a:spcAft>
                <a:spcPts val="0"/>
              </a:spcAft>
              <a:buSzPts val="2200"/>
              <a:buFont typeface="Noto Sans Symbols"/>
              <a:buNone/>
            </a:pPr>
            <a:r>
              <a:t/>
            </a:r>
            <a:endParaRPr b="0" i="0">
              <a:latin typeface="Quicksand"/>
              <a:ea typeface="Quicksand"/>
              <a:cs typeface="Quicksand"/>
              <a:sym typeface="Quicksand"/>
            </a:endParaRPr>
          </a:p>
          <a:p>
            <a:pPr indent="0" lvl="0" marL="91440" rtl="0" algn="l">
              <a:lnSpc>
                <a:spcPct val="90000"/>
              </a:lnSpc>
              <a:spcBef>
                <a:spcPts val="1400"/>
              </a:spcBef>
              <a:spcAft>
                <a:spcPts val="0"/>
              </a:spcAft>
              <a:buSzPts val="2200"/>
              <a:buFont typeface="Noto Sans Symbols"/>
              <a:buNone/>
            </a:pPr>
            <a:r>
              <a:t/>
            </a:r>
            <a:endParaRPr b="0" i="0">
              <a:latin typeface="Quicksand"/>
              <a:ea typeface="Quicksand"/>
              <a:cs typeface="Quicksand"/>
              <a:sym typeface="Quicksand"/>
            </a:endParaRPr>
          </a:p>
          <a:p>
            <a:pPr indent="0" lvl="0" marL="91440" rtl="0" algn="l">
              <a:lnSpc>
                <a:spcPct val="90000"/>
              </a:lnSpc>
              <a:spcBef>
                <a:spcPts val="1400"/>
              </a:spcBef>
              <a:spcAft>
                <a:spcPts val="0"/>
              </a:spcAft>
              <a:buSzPts val="2200"/>
              <a:buFont typeface="Noto Sans Symbols"/>
              <a:buNone/>
            </a:pPr>
            <a:r>
              <a:t/>
            </a:r>
            <a:endParaRPr b="0" i="0">
              <a:latin typeface="Quicksand"/>
              <a:ea typeface="Quicksand"/>
              <a:cs typeface="Quicksand"/>
              <a:sym typeface="Quicksand"/>
            </a:endParaRPr>
          </a:p>
          <a:p>
            <a:pPr indent="0" lvl="0" marL="91440" rtl="0" algn="l">
              <a:lnSpc>
                <a:spcPct val="90000"/>
              </a:lnSpc>
              <a:spcBef>
                <a:spcPts val="1400"/>
              </a:spcBef>
              <a:spcAft>
                <a:spcPts val="0"/>
              </a:spcAft>
              <a:buSzPts val="2200"/>
              <a:buFont typeface="Noto Sans Symbols"/>
              <a:buNone/>
            </a:pPr>
            <a:r>
              <a:t/>
            </a:r>
            <a:endParaRPr b="0" i="0">
              <a:latin typeface="Quicksand"/>
              <a:ea typeface="Quicksand"/>
              <a:cs typeface="Quicksand"/>
              <a:sym typeface="Quicksand"/>
            </a:endParaRPr>
          </a:p>
          <a:p>
            <a:pPr indent="0" lvl="0" marL="91440" rtl="0" algn="l">
              <a:lnSpc>
                <a:spcPct val="90000"/>
              </a:lnSpc>
              <a:spcBef>
                <a:spcPts val="1400"/>
              </a:spcBef>
              <a:spcAft>
                <a:spcPts val="0"/>
              </a:spcAft>
              <a:buSzPts val="2200"/>
              <a:buFont typeface="Noto Sans Symbols"/>
              <a:buNone/>
            </a:pPr>
            <a:r>
              <a:t/>
            </a:r>
            <a:endParaRPr b="0" i="0">
              <a:latin typeface="Quicksand"/>
              <a:ea typeface="Quicksand"/>
              <a:cs typeface="Quicksand"/>
              <a:sym typeface="Quicksand"/>
            </a:endParaRPr>
          </a:p>
          <a:p>
            <a:pPr indent="0" lvl="0" marL="91440" rtl="0" algn="l">
              <a:lnSpc>
                <a:spcPct val="90000"/>
              </a:lnSpc>
              <a:spcBef>
                <a:spcPts val="1400"/>
              </a:spcBef>
              <a:spcAft>
                <a:spcPts val="0"/>
              </a:spcAft>
              <a:buSzPts val="2200"/>
              <a:buFont typeface="Noto Sans Symbols"/>
              <a:buNone/>
            </a:pPr>
            <a:r>
              <a:t/>
            </a:r>
            <a:endParaRPr b="0" i="0">
              <a:latin typeface="Quicksand"/>
              <a:ea typeface="Quicksand"/>
              <a:cs typeface="Quicksand"/>
              <a:sym typeface="Quicksand"/>
            </a:endParaRPr>
          </a:p>
          <a:p>
            <a:pPr indent="0" lvl="0" marL="91440" rtl="0" algn="l">
              <a:lnSpc>
                <a:spcPct val="90000"/>
              </a:lnSpc>
              <a:spcBef>
                <a:spcPts val="1400"/>
              </a:spcBef>
              <a:spcAft>
                <a:spcPts val="0"/>
              </a:spcAft>
              <a:buSzPts val="2200"/>
              <a:buFont typeface="Noto Sans Symbols"/>
              <a:buNone/>
            </a:pPr>
            <a:r>
              <a:t/>
            </a:r>
            <a:endParaRPr b="0" i="0">
              <a:latin typeface="Quicksand"/>
              <a:ea typeface="Quicksand"/>
              <a:cs typeface="Quicksand"/>
              <a:sym typeface="Quicksand"/>
            </a:endParaRPr>
          </a:p>
          <a:p>
            <a:pPr indent="0" lvl="0" marL="0" rtl="0" algn="l">
              <a:lnSpc>
                <a:spcPct val="90000"/>
              </a:lnSpc>
              <a:spcBef>
                <a:spcPts val="1400"/>
              </a:spcBef>
              <a:spcAft>
                <a:spcPts val="0"/>
              </a:spcAft>
              <a:buSzPts val="2200"/>
              <a:buNone/>
            </a:pPr>
            <a:br>
              <a:rPr b="0" i="0" lang="en-IN">
                <a:latin typeface="Quicksand"/>
                <a:ea typeface="Quicksand"/>
                <a:cs typeface="Quicksand"/>
                <a:sym typeface="Quicksand"/>
              </a:rPr>
            </a:br>
            <a:endParaRPr/>
          </a:p>
        </p:txBody>
      </p:sp>
      <p:pic>
        <p:nvPicPr>
          <p:cNvPr id="607" name="Google Shape;607;p42"/>
          <p:cNvPicPr preferRelativeResize="0"/>
          <p:nvPr/>
        </p:nvPicPr>
        <p:blipFill rotWithShape="1">
          <a:blip r:embed="rId3">
            <a:alphaModFix/>
          </a:blip>
          <a:srcRect b="11230" l="20275" r="34492" t="16233"/>
          <a:stretch/>
        </p:blipFill>
        <p:spPr>
          <a:xfrm>
            <a:off x="2886264" y="2000250"/>
            <a:ext cx="6043424" cy="333611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43"/>
          <p:cNvSpPr txBox="1"/>
          <p:nvPr>
            <p:ph type="title"/>
          </p:nvPr>
        </p:nvSpPr>
        <p:spPr>
          <a:xfrm>
            <a:off x="1024128" y="156591"/>
            <a:ext cx="9720072" cy="6292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Cambria"/>
              <a:buNone/>
            </a:pPr>
            <a:r>
              <a:rPr i="0" lang="en-IN"/>
              <a:t>CRYPTARITHMETIC PROBLEM: </a:t>
            </a:r>
            <a:endParaRPr/>
          </a:p>
        </p:txBody>
      </p:sp>
      <p:sp>
        <p:nvSpPr>
          <p:cNvPr id="613" name="Google Shape;613;p43"/>
          <p:cNvSpPr txBox="1"/>
          <p:nvPr>
            <p:ph idx="1" type="body"/>
          </p:nvPr>
        </p:nvSpPr>
        <p:spPr>
          <a:xfrm>
            <a:off x="1024128" y="1114425"/>
            <a:ext cx="9720073" cy="5194935"/>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Char char=" "/>
            </a:pPr>
            <a:r>
              <a:rPr i="0" lang="en-IN">
                <a:latin typeface="Quicksand"/>
                <a:ea typeface="Quicksand"/>
                <a:cs typeface="Quicksand"/>
                <a:sym typeface="Quicksand"/>
              </a:rPr>
              <a:t>Cryptarithmetic Problem is a type of </a:t>
            </a:r>
            <a:r>
              <a:rPr b="1" i="1" lang="en-IN" u="sng" strike="noStrike">
                <a:solidFill>
                  <a:schemeClr val="hlink"/>
                </a:solidFill>
                <a:hlinkClick r:id="rId3"/>
              </a:rPr>
              <a:t>constraint satisfaction problem</a:t>
            </a:r>
            <a:endParaRPr b="1" i="1" strike="noStrike"/>
          </a:p>
          <a:p>
            <a:pPr indent="-91440" lvl="0" marL="91440" rtl="0" algn="l">
              <a:lnSpc>
                <a:spcPct val="90000"/>
              </a:lnSpc>
              <a:spcBef>
                <a:spcPts val="1400"/>
              </a:spcBef>
              <a:spcAft>
                <a:spcPts val="0"/>
              </a:spcAft>
              <a:buSzPts val="2200"/>
              <a:buChar char=" "/>
            </a:pPr>
            <a:r>
              <a:rPr i="0" lang="en-IN"/>
              <a:t> </a:t>
            </a:r>
            <a:r>
              <a:rPr i="0" lang="en-IN">
                <a:latin typeface="Quicksand"/>
                <a:ea typeface="Quicksand"/>
                <a:cs typeface="Quicksand"/>
                <a:sym typeface="Quicksand"/>
              </a:rPr>
              <a:t>where the game is about digits and its unique replacement either with alphabets or other symbols. </a:t>
            </a:r>
            <a:endParaRPr/>
          </a:p>
          <a:p>
            <a:pPr indent="-91440" lvl="0" marL="91440" rtl="0" algn="l">
              <a:lnSpc>
                <a:spcPct val="90000"/>
              </a:lnSpc>
              <a:spcBef>
                <a:spcPts val="1400"/>
              </a:spcBef>
              <a:spcAft>
                <a:spcPts val="0"/>
              </a:spcAft>
              <a:buSzPts val="2200"/>
              <a:buChar char=" "/>
            </a:pPr>
            <a:r>
              <a:rPr i="0" lang="en-IN">
                <a:latin typeface="Quicksand"/>
                <a:ea typeface="Quicksand"/>
                <a:cs typeface="Quicksand"/>
                <a:sym typeface="Quicksand"/>
              </a:rPr>
              <a:t>In cryptarithmetic problem, the digits  (0-9) get substituted by some possible alphabets or symbols.</a:t>
            </a:r>
            <a:endParaRPr/>
          </a:p>
          <a:p>
            <a:pPr indent="-91440" lvl="0" marL="91440" rtl="0" algn="l">
              <a:lnSpc>
                <a:spcPct val="90000"/>
              </a:lnSpc>
              <a:spcBef>
                <a:spcPts val="1400"/>
              </a:spcBef>
              <a:spcAft>
                <a:spcPts val="0"/>
              </a:spcAft>
              <a:buSzPts val="2200"/>
              <a:buChar char=" "/>
            </a:pPr>
            <a:r>
              <a:rPr i="0" lang="en-IN">
                <a:latin typeface="Quicksand"/>
                <a:ea typeface="Quicksand"/>
                <a:cs typeface="Quicksand"/>
                <a:sym typeface="Quicksand"/>
              </a:rPr>
              <a:t> The task in cryptarithmetic problem is to substitute each digit with an alphabet to get the result arithmetically correct.</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4"/>
          <p:cNvSpPr txBox="1"/>
          <p:nvPr>
            <p:ph type="title"/>
          </p:nvPr>
        </p:nvSpPr>
        <p:spPr>
          <a:xfrm>
            <a:off x="1024129" y="142303"/>
            <a:ext cx="9720072" cy="60064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Cambria"/>
              <a:buNone/>
            </a:pPr>
            <a:r>
              <a:rPr lang="en-IN"/>
              <a:t>BACKTRACKING SEARCH</a:t>
            </a:r>
            <a:endParaRPr/>
          </a:p>
        </p:txBody>
      </p:sp>
      <p:sp>
        <p:nvSpPr>
          <p:cNvPr id="619" name="Google Shape;619;p44"/>
          <p:cNvSpPr txBox="1"/>
          <p:nvPr>
            <p:ph idx="1" type="body"/>
          </p:nvPr>
        </p:nvSpPr>
        <p:spPr>
          <a:xfrm>
            <a:off x="1024129" y="985837"/>
            <a:ext cx="10877359" cy="5500688"/>
          </a:xfrm>
          <a:prstGeom prst="rect">
            <a:avLst/>
          </a:prstGeom>
          <a:noFill/>
          <a:ln>
            <a:noFill/>
          </a:ln>
        </p:spPr>
        <p:txBody>
          <a:bodyPr anchorCtr="0" anchor="t" bIns="45700" lIns="45700" spcFirstLastPara="1" rIns="45700" wrap="square" tIns="45700">
            <a:normAutofit lnSpcReduction="10000"/>
          </a:bodyPr>
          <a:lstStyle/>
          <a:p>
            <a:pPr indent="-91440" lvl="0" marL="91440" rtl="0" algn="l">
              <a:lnSpc>
                <a:spcPct val="90000"/>
              </a:lnSpc>
              <a:spcBef>
                <a:spcPts val="0"/>
              </a:spcBef>
              <a:spcAft>
                <a:spcPts val="0"/>
              </a:spcAft>
              <a:buSzPts val="2200"/>
              <a:buFont typeface="Noto Sans Symbols"/>
              <a:buChar char="▪"/>
            </a:pPr>
            <a:r>
              <a:rPr lang="en-IN"/>
              <a:t>Chooses values for one variable at a time and backtracks when a variable has no legal values left to assign</a:t>
            </a:r>
            <a:endParaRPr/>
          </a:p>
          <a:p>
            <a:pPr indent="-91440" lvl="0" marL="91440" rtl="0" algn="l">
              <a:lnSpc>
                <a:spcPct val="90000"/>
              </a:lnSpc>
              <a:spcBef>
                <a:spcPts val="1400"/>
              </a:spcBef>
              <a:spcAft>
                <a:spcPts val="0"/>
              </a:spcAft>
              <a:buSzPts val="2200"/>
              <a:buFont typeface="Noto Sans Symbols"/>
              <a:buChar char="▪"/>
            </a:pPr>
            <a:r>
              <a:rPr lang="en-IN"/>
              <a:t>Keeps only one single representation of a state and alters the representation ,rather than creating new state</a:t>
            </a:r>
            <a:endParaRPr/>
          </a:p>
          <a:p>
            <a:pPr indent="-91440" lvl="0" marL="91440" rtl="0" algn="l">
              <a:lnSpc>
                <a:spcPct val="90000"/>
              </a:lnSpc>
              <a:spcBef>
                <a:spcPts val="1400"/>
              </a:spcBef>
              <a:spcAft>
                <a:spcPts val="0"/>
              </a:spcAft>
              <a:buSzPts val="2200"/>
              <a:buFont typeface="Noto Sans Symbols"/>
              <a:buChar char="▪"/>
            </a:pPr>
            <a:r>
              <a:rPr lang="en-IN"/>
              <a:t>The idea of choosing the variable with the fewest legal value is called</a:t>
            </a:r>
            <a:r>
              <a:rPr b="1" i="1" lang="en-IN"/>
              <a:t> minimum remaining values heuristics(MRV)</a:t>
            </a:r>
            <a:endParaRPr/>
          </a:p>
          <a:p>
            <a:pPr indent="-91440" lvl="0" marL="91440" rtl="0" algn="l">
              <a:lnSpc>
                <a:spcPct val="90000"/>
              </a:lnSpc>
              <a:spcBef>
                <a:spcPts val="1400"/>
              </a:spcBef>
              <a:spcAft>
                <a:spcPts val="0"/>
              </a:spcAft>
              <a:buSzPts val="2200"/>
              <a:buFont typeface="Noto Sans Symbols"/>
              <a:buChar char="▪"/>
            </a:pPr>
            <a:r>
              <a:rPr lang="en-IN"/>
              <a:t>It has been called </a:t>
            </a:r>
            <a:r>
              <a:rPr b="1" i="1" lang="en-IN"/>
              <a:t>most constrained variable</a:t>
            </a:r>
            <a:endParaRPr/>
          </a:p>
          <a:p>
            <a:pPr indent="-137159" lvl="1" marL="265176" rtl="0" algn="l">
              <a:lnSpc>
                <a:spcPct val="90000"/>
              </a:lnSpc>
              <a:spcBef>
                <a:spcPts val="400"/>
              </a:spcBef>
              <a:spcAft>
                <a:spcPts val="0"/>
              </a:spcAft>
              <a:buSzPts val="1800"/>
              <a:buFont typeface="Noto Sans Symbols"/>
              <a:buChar char="▪"/>
            </a:pPr>
            <a:r>
              <a:rPr lang="en-IN"/>
              <a:t>MRV does not help in choosing the first region to color in Australia,because initially every region has three legal values</a:t>
            </a:r>
            <a:endParaRPr/>
          </a:p>
          <a:p>
            <a:pPr indent="-91440" lvl="0" marL="91440" rtl="0" algn="l">
              <a:lnSpc>
                <a:spcPct val="90000"/>
              </a:lnSpc>
              <a:spcBef>
                <a:spcPts val="1600"/>
              </a:spcBef>
              <a:spcAft>
                <a:spcPts val="0"/>
              </a:spcAft>
              <a:buSzPts val="2200"/>
              <a:buFont typeface="Noto Sans Symbols"/>
              <a:buChar char="▪"/>
            </a:pPr>
            <a:r>
              <a:rPr b="1" i="1" lang="en-IN"/>
              <a:t>Degree heuristics </a:t>
            </a:r>
            <a:r>
              <a:rPr lang="en-IN"/>
              <a:t>is being considered</a:t>
            </a:r>
            <a:endParaRPr/>
          </a:p>
          <a:p>
            <a:pPr indent="-137159" lvl="1" marL="265176" rtl="0" algn="l">
              <a:lnSpc>
                <a:spcPct val="90000"/>
              </a:lnSpc>
              <a:spcBef>
                <a:spcPts val="400"/>
              </a:spcBef>
              <a:spcAft>
                <a:spcPts val="0"/>
              </a:spcAft>
              <a:buSzPts val="1800"/>
              <a:buFont typeface="Noto Sans Symbols"/>
              <a:buChar char="▪"/>
            </a:pPr>
            <a:r>
              <a:rPr lang="en-IN"/>
              <a:t>It reduces the branching factor by selecting the variable that is having largest number of constraints</a:t>
            </a:r>
            <a:endParaRPr/>
          </a:p>
          <a:p>
            <a:pPr indent="-91440" lvl="0" marL="91440" rtl="0" algn="l">
              <a:lnSpc>
                <a:spcPct val="90000"/>
              </a:lnSpc>
              <a:spcBef>
                <a:spcPts val="1600"/>
              </a:spcBef>
              <a:spcAft>
                <a:spcPts val="0"/>
              </a:spcAft>
              <a:buSzPts val="2200"/>
              <a:buFont typeface="Noto Sans Symbols"/>
              <a:buChar char="▪"/>
            </a:pPr>
            <a:r>
              <a:rPr lang="en-IN"/>
              <a:t>After selecting the variable we have to decide the order in which to examine the values</a:t>
            </a:r>
            <a:endParaRPr/>
          </a:p>
          <a:p>
            <a:pPr indent="-91440" lvl="0" marL="91440" rtl="0" algn="l">
              <a:lnSpc>
                <a:spcPct val="90000"/>
              </a:lnSpc>
              <a:spcBef>
                <a:spcPts val="1400"/>
              </a:spcBef>
              <a:spcAft>
                <a:spcPts val="0"/>
              </a:spcAft>
              <a:buSzPts val="2200"/>
              <a:buFont typeface="Noto Sans Symbols"/>
              <a:buChar char="▪"/>
            </a:pPr>
            <a:r>
              <a:rPr b="1" i="1" lang="en-IN"/>
              <a:t>Least constraining value heuristics </a:t>
            </a:r>
            <a:r>
              <a:rPr lang="en-IN"/>
              <a:t>is effective in these cases.</a:t>
            </a:r>
            <a:endParaRPr/>
          </a:p>
          <a:p>
            <a:pPr indent="0" lvl="0" marL="91440" rtl="0" algn="l">
              <a:lnSpc>
                <a:spcPct val="90000"/>
              </a:lnSpc>
              <a:spcBef>
                <a:spcPts val="1400"/>
              </a:spcBef>
              <a:spcAft>
                <a:spcPts val="0"/>
              </a:spcAft>
              <a:buSzPts val="2200"/>
              <a:buFont typeface="Noto Sans Symbols"/>
              <a:buNone/>
            </a:pPr>
            <a:r>
              <a:t/>
            </a:r>
            <a:endParaRPr/>
          </a:p>
          <a:p>
            <a:pPr indent="-22858" lvl="1" marL="265176" rtl="0" algn="l">
              <a:lnSpc>
                <a:spcPct val="90000"/>
              </a:lnSpc>
              <a:spcBef>
                <a:spcPts val="400"/>
              </a:spcBef>
              <a:spcAft>
                <a:spcPts val="0"/>
              </a:spcAft>
              <a:buSzPts val="1800"/>
              <a:buFont typeface="Noto Sans Symbols"/>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4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mbria"/>
              <a:buNone/>
            </a:pPr>
            <a:r>
              <a:t/>
            </a:r>
            <a:endParaRPr/>
          </a:p>
        </p:txBody>
      </p:sp>
      <p:pic>
        <p:nvPicPr>
          <p:cNvPr id="625" name="Google Shape;625;p45"/>
          <p:cNvPicPr preferRelativeResize="0"/>
          <p:nvPr>
            <p:ph idx="1" type="body"/>
          </p:nvPr>
        </p:nvPicPr>
        <p:blipFill rotWithShape="1">
          <a:blip r:embed="rId3">
            <a:alphaModFix/>
          </a:blip>
          <a:srcRect b="44581" l="26015" r="22539" t="18526"/>
          <a:stretch/>
        </p:blipFill>
        <p:spPr>
          <a:xfrm>
            <a:off x="483489" y="2205015"/>
            <a:ext cx="10801350" cy="41814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2022-10-25T00:45:05Z</dcterms:created>
  <dc:creator>SHONE SHIBU</dc:creator>
</cp:coreProperties>
</file>